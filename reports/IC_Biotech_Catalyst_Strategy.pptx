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establish the ceiling of a trial-outcome trading strategy assuming a perfect model, then haircut to what is actually executable. Everything here is small-molecule biotech, 2016-2019, market-neutral.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claiming to have a model yet. Step 2 is the perfect-foresight ceiling. The value of this exercise is the haircut path — showing what a real, executable version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insight for the committee: you do not get paid for predicting approvals — the market already knows. You get paid on failures, and only small-caps actually move. This narrows the whole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counter-consensus core: the crowd shorts because most trials fail; when our model finds the exceptions, we are long AND we rent our shares to the very shorts who are wrong. Two income streams from one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legs, but do not let the symmetry mislead: the long+lend leg is the profit engine. Short and hedge are risk-control, not return generators.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lending fee is a daily flow, not an upfront payment, and it collapses after the catalyst because shorts cover. That time-shape is why we model pre- and post- separately. 4.2% per position from lending alone, before the price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$27.3M / 26% / 1.67 / -15%. The $41M ceiling is context only. Note it is positive across bear/bull and across every year — the beta hedge is why 2016, the crash year, is actually the best Sharpe.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(1) profit is long+lend, ~92% of gross; the short leg nets roughly flat after honest borrow limits. (2) Lending alone adds +19% over price-only — it is the differentiator, not decoration.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answers the committee's earlier question: with accuracy pinned at a common baseline, which-deals-you-get and which-costs-you-assume land in the same place. The downside is driven almost entirely by model accuracy — which is Step 3/4.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am flagging my own weak points. Timing and costs are solid. Borrow economics and executability are assumed and could be wrong — but they are stress-tested and the strategy survives. The honest gap is a real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approval to proceed to Step 3/4 — building and validating the model. The economics work if the model is real; everything hinges on failure-class precision. This is a capacity-limited uncorrelated sleeve, not a flagship.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  ·  FEASIBILITY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Clinical-Catalyst Strategy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the stock reaction to clinical-trial &amp; FDA outcomes — market-neutral.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Perfect-foresight backtest (README Step 2)</a:t>
            </a:r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payoff ceiling and its honest, deployable haircut.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capital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2016–2019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661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window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Small-cap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093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tradeable universe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Market-neutral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beta-hedged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test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first, then the honest, deployable number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a 100%-accurate outcome model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fantasy ceiling), backtest a $10M book over 2016–2019, then progressively haircut for the constraints that actually bind a biotech book: borrow supply, short executability, sector beta, path risk.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41732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161848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1581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ceiling?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198424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were perfect, how much could the strategy make?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292608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0" y="3090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survives reality?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0" y="349300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borrow limits, executability and costs — what is left to deploy?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 works and is market-neutral — but it is 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capacity-limited sleeve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scalable flagship.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4E6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BioPharmCatalyst small-molecule Approved/CRL + parsed Phase 2/3 outcomes · market-model CAR vs XBI.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finding: only failure moves the stock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are priced in advance — the information event is failure, and only in small-caps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Approval-day reaction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(priced in advance)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−11% to −18%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3484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Small-cap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(single-day drop)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4672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Big-pharma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(non-event)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tradeable signal lives only in small-caps.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large-cap failure barely moves a diversified pipeline; a small-cap’s whole value is the one drug. That asymmetry is the entire edge — and it is why the universe is deliberately small-cap-only.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crowd is there: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of trials fail, so shorting biotech into a catalyst is the consensus trade — which is exactly what makes the borrow rich when the model is right.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money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is on the long side — the failure signal is what makes the shorts crowded, and the lending rich.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08760" y="19933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 of trials fail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852160" y="1993392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crowd systematically shorts biotech names into their catalysts.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03580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3017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 fees spike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30175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short demand drives securities-lending rates sky-high on these names.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59936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4041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model picks the winners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52160" y="404164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long the names that will actually succeed — against the consensus short.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08760" y="50657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lend to the shorts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852160" y="506577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their borrow fees as they are proven wrong, on top of the price jump.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 — three legs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comes from lending fees + the failure crash; the approval move contributes ~0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+ lend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known successes ~1 month out, hold ~3 months, and lend the shares to the crowded shorts for borrow-fee income.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/ puts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— or buy puts on — known failures to capture the one-day crash. After honest borrow limits, this leg nets ~flat.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HEDGE, NOT A CENTER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528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1540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 beta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7532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biotech-sector exposure hedged with XBI, so returns are alpha, not market direction. Earns nothing itself.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7532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THE LOW DRAWDOWN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Long-and-lend is ~92% of gross profit.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book, after honest borrow constraints, is a hedge; the XBI overlay earns nothing but buys the low drawdown.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Mechanics &amp; the lending engine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levers a reviewer should interrogate — with a worked example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1883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per position · 10% max per company · 150% gross cap → ~30 positions open; new events queue when full.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63347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(from our data)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Long: enter T−20, hold to T+63 (~3 mo). Short: enter T−10, cover T+5 (a one-day gap).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71246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gate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4041648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60% of failures as shortable — the biggest drops are the hardest to borrow. This is why the short leg barely earns.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79145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51206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bps market impact + 5 bps commission, round trip (small caps move on your trades).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0" y="1554480"/>
            <a:ext cx="5120640" cy="4160520"/>
          </a:xfrm>
          <a:prstGeom prst="roundRect">
            <a:avLst>
              <a:gd name="adj" fmla="val 1978"/>
            </a:avLst>
          </a:prstGeom>
          <a:solidFill>
            <a:srgbClr val="141B33"/>
          </a:solidFill>
          <a:ln w="12700">
            <a:solidFill>
              <a:srgbClr val="141B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Lending income (per position)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2194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notional × rate × utilization × days/252 × multiplier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66560" y="2788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pre-catalyst (20d): full rate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</a:t>
            </a:r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post-catalyst (63d): collapsed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0.10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66560" y="3657600"/>
            <a:ext cx="4572000" cy="0"/>
          </a:xfrm>
          <a:prstGeom prst="line">
            <a:avLst/>
          </a:prstGeom>
          <a:noFill/>
          <a:ln w="12700">
            <a:solidFill>
              <a:srgbClr val="34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one $1M position (rate 100%/yr, util 40%)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   = 1M × 1.00 × 0.40 × 20/252 × 1.00 = $31,700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= 1M × 1.00 × 0.40 × 63/252 × 0.10 = $10,000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4983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lending = $41,700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(4.2% of the position)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realistic, executable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2016–2019, small-cap universe · quote the realistic number, not the ceiling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$27.3M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0756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 grows 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37560" y="14173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37560" y="20756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26480" y="14173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126480" y="20756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915400" y="14173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915400" y="20756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852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 →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8A91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ceiling  (don’t quote)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$41.4M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  (bad borrow, 85% model)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$16.5M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  (rich borrow, perfect model)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$41.5M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" name="Image 0" descr="/Users/gigi/hedgefund-analysis/reports/backtest_equ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697480"/>
            <a:ext cx="4937760" cy="22219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curve, realistic case — positive in every scenario and every market regime, including the 2016 biotech crash (its best risk-adjusted year, because the book is beta-hedged).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profit comes from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by leg, realistic gross — long-and-lend is the engine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— price appreciation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+$14.7M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— lending income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+$4.3M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— net (price − borrow cost)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−$0.6M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Frictions (impact + commission)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−$3.0M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$15.4M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543800" y="1600200"/>
            <a:ext cx="4069080" cy="1600200"/>
          </a:xfrm>
          <a:prstGeom prst="roundRect">
            <a:avLst>
              <a:gd name="adj" fmla="val 5143"/>
            </a:avLst>
          </a:prstGeom>
          <a:solidFill>
            <a:srgbClr val="F0FAF6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2668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~92%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726680" y="237744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gross comes from long-and-lend. The short book is a hedge, not a profit center.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43800" y="3383280"/>
            <a:ext cx="4069080" cy="1600200"/>
          </a:xfrm>
          <a:prstGeom prst="roundRect">
            <a:avLst>
              <a:gd name="adj" fmla="val 5143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26680" y="41605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from the lending overlay vs price-trading alone ($23.0M → $27.3M), like-for-like.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is not the short leg — it is misclassifying a failure as a winner.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long buys a landmine that gaps −15%. That is why failure-class precision, not raw accuracy, is the number that matters.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— Monte Carlo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held fixed (90% &amp; 80%) so trade-luck vs assumption-luck is like-for-like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varies (accuracy fixed)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Trade luck (bootstrap)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$23.2M · 0%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$18.7M · 1.5%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B1. Assumptions, independent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B2. Assumptions, correlated (copula)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$23.7M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Full-risk (accuracy also random)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$21.4M · [11.3, 29.4] · 3.7%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6052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fixed accuracy, trade luck ≈ assumption luck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result is neither a few lucky deals nor lucky cost guesses. Correlating the assumptions (a stress regime) trims the upside only mildly. </a:t>
            </a:r>
            <a:pPr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lever that dominates is model accuracy.</a:t>
            </a:r>
            <a:endParaRPr lang="en-US" sz="1350" dirty="0"/>
          </a:p>
        </p:txBody>
      </p:sp>
      <p:pic>
        <p:nvPicPr>
          <p:cNvPr id="7" name="Image 0" descr="/Users/gigi/hedgefund-analysis/reports/backtest_monte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163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0" y="47548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vs assumption MC at 90% (top) and 80% (bottom). Orange = correlated.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break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on every assumption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/ exit 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T−20/T+63 · T−10/T+5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in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+ 5 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convention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/ caps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/ 10% / 150%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reasonable, swept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Borrow rate + utilization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100%/yr · 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— no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Executability (“keep 60%”)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(Step 2 ceiling)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0A4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F3F2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440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red rows — borrow economics and short executability — are the real uncertainty.  </a:t>
            </a:r>
            <a:pPr indent="0" marL="0"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swept in the sensitivity and Monte Carlo; neither breaks the strategy, but both are un-measured until we trade it.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916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strategy actually add profit?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554480"/>
          </a:xfrm>
          <a:prstGeom prst="roundRect">
            <a:avLst>
              <a:gd name="adj" fmla="val 5294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$23.0M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05840" y="31272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price-trading alone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2286000"/>
            <a:ext cx="5212080" cy="1554480"/>
          </a:xfrm>
          <a:prstGeom prst="roundRect">
            <a:avLst>
              <a:gd name="adj" fmla="val 5294"/>
            </a:avLst>
          </a:prstGeom>
          <a:solidFill>
            <a:srgbClr val="0E3B32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688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$27.3M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0" y="3127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lending overlay  </a:t>
            </a:r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(+19%)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977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the lending is the differentiator, not decoration.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572000"/>
            <a:ext cx="10607040" cy="1600200"/>
          </a:xfrm>
          <a:prstGeom prst="roundRect">
            <a:avLst>
              <a:gd name="adj" fmla="val 5143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512064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Steps 3 / 4 — build the real predictive model and measure its true accuracy.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stress-tested a 70–100% accuracy range; we have not built the model. The one number that decides everything is how well it separates winners from landmines.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2026-07-31T04:28:05Z</dcterms:created>
  <dcterms:modified xsi:type="dcterms:W3CDTF">2026-07-31T04:28:05Z</dcterms:modified>
</cp:coreProperties>
</file>