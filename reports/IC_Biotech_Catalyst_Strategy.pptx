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establish the ceiling of a trial-outcome trading strategy assuming a perfect model, then haircut to what is actually executable. Everything here is small-molecule biotech, 2016-2019, market-neutral.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are not claiming to have a model yet. Step 2 is the perfect-foresight ceiling. The value of this exercise is the haircut path — showing what a real, executable version keeps.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insight for the committee: you do not get paid for predicting approvals — the market already knows. You get paid on failures, and only small-caps actually move. This narrows the whole strategy.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counter-consensus core: the crowd shorts because most trials fail; when our model finds the exceptions, we are long AND we rent our shares to the very shorts who are wrong. Two income streams from one position.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legs, but do not let the symmetry mislead: the long+lend leg is the profit engine. Short and hedge are risk-control, not return generators.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lending fee is a daily flow, not an upfront payment, and it collapses after the catalyst because shorts cover. That time-shape is why we model pre- and post- separately. 4.2% per position from lending alone, before the price move.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$28.9M perfect-foresight, but be upfront it's a ceiling; the fair line is the 90% model at $26.1M / +161%, which still beats the S&amp;P's +67% with a smaller drawdown. Benchmarks capped pre-COVID so the 2020 crash doesn't flatter 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Held at 100% model so the columns isolate the cost assumptions. Short is a drag everywhere except bull, and doesn't help neutrality (the XBI hedge does that) — so it's dropped. Long price is steady; lending is what swings the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Accuracy pinned at a common baseline so trade-luck and assumption-luck are comparable — they land in the same place. Dropping the short leg removed the loss scenarios (P(loss)=0%). Un-hedged is higher; the hedge is a mandate choice. Borrow rate (cost of lending) is the single biggest input — the one-at-a-time MC in the brief shows that.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am flagging my own weak points. Timing and costs are solid. Borrow economics and executability are assumed and could be wrong — but they are stress-tested and the strategy survives. The honest gap is a real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approval to proceed to Step 3/4 — building and validating the model. The economics work if the model is real; everything hinges on failure-class precision. This is a capacity-limited uncorrelated sleeve, not a flagship.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COMMITTEE  ·  FEASIBILITY BRIEF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77240" y="187452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Biotech Clinical-Catalyst Strategy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Trading the stock reaction to clinical-trial &amp; FDA outcomes — market-neutral.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3657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Perfect-foresight backtest (README Step 2)</a:t>
            </a:r>
            <a:pPr indent="0" marL="0">
              <a:buNone/>
            </a:pPr>
            <a:r>
              <a:rPr lang="en-US" sz="1400" dirty="0">
                <a:solidFill>
                  <a:srgbClr val="8A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the payoff ceiling and its honest, deployable haircut.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50749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$10M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5321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capital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566160" y="50749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2016–2019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566160" y="55321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window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09360" y="50749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Small-cap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309360" y="55321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tradeable universe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052560" y="50749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Market-neutral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9052560" y="55321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beta-hedged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6172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02C39A"/>
          </a:solidFill>
          <a:ln>
            <a:solidFill>
              <a:srgbClr val="02C39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280160" y="42062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set out to test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298448" y="89611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ceiling first, then the honest, deployable number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6400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 a 100%-accurate outcome model</a:t>
            </a:r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(the fantasy ceiling), backtest a $10M book over 2016–2019, then progressively haircut for the constraints that actually bind a biotech book: borrow supply, short executability, sector beta, path risk.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0" y="1417320"/>
            <a:ext cx="4297680" cy="1325880"/>
          </a:xfrm>
          <a:prstGeom prst="roundRect">
            <a:avLst>
              <a:gd name="adj" fmla="val 6207"/>
            </a:avLst>
          </a:prstGeom>
          <a:solidFill>
            <a:srgbClr val="F4F6FC"/>
          </a:solidFill>
          <a:ln w="12700">
            <a:solidFill>
              <a:srgbClr val="E4E6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43800" y="1618488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0" y="158191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the ceiling?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0" y="1984248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model were perfect, how much could the strategy make?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0" y="2926080"/>
            <a:ext cx="4297680" cy="1325880"/>
          </a:xfrm>
          <a:prstGeom prst="roundRect">
            <a:avLst>
              <a:gd name="adj" fmla="val 6207"/>
            </a:avLst>
          </a:prstGeom>
          <a:solidFill>
            <a:srgbClr val="F4F6FC"/>
          </a:solidFill>
          <a:ln w="12700">
            <a:solidFill>
              <a:srgbClr val="E4E6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543800" y="3127248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229600" y="309067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survives reality?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229600" y="3493008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borrow limits, executability and costs — what is left to deploy?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3977640"/>
            <a:ext cx="6400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line.  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strategy works and is market-neutral — but it is a </a:t>
            </a:r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capacity-limited sleeve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a scalable flagship.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5074920"/>
            <a:ext cx="11064240" cy="0"/>
          </a:xfrm>
          <a:prstGeom prst="line">
            <a:avLst/>
          </a:prstGeom>
          <a:noFill/>
          <a:ln w="12700">
            <a:solidFill>
              <a:srgbClr val="E4E6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52120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BioPharmCatalyst small-molecule Approved/CRL + parsed Phase 2/3 · market-model CAR vs XBI · sample 320 small-cap events 2016–2019 (217 successes / 103 failures).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1430000" y="641908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02C39A"/>
          </a:solidFill>
          <a:ln>
            <a:solidFill>
              <a:srgbClr val="02C39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280160" y="42062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finding: only failure moves the stock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298448" y="89611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are priced in advance — the information event is failure, and only in small-caps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11064240" cy="1783080"/>
          </a:xfrm>
          <a:prstGeom prst="roundRect">
            <a:avLst>
              <a:gd name="adj" fmla="val 4103"/>
            </a:avLst>
          </a:prstGeom>
          <a:solidFill>
            <a:srgbClr val="F4F6FC"/>
          </a:solidFill>
          <a:ln w="12700">
            <a:solidFill>
              <a:srgbClr val="E4E6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78308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~0%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822960" y="24414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Approval-day reaction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(priced in advance)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434840" y="178308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03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−11% to −18%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4434840" y="24414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Small-cap failure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(single-day drop)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046720" y="178308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~0%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8046720" y="24414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Big-pharma failure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(non-event)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3703320"/>
            <a:ext cx="110642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tradeable signal lives only in small-caps.  </a:t>
            </a:r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large-cap failure barely moves a diversified pipeline; a small-cap’s whole value is the one drug. That asymmetry is the entire edge — and it is why the universe is deliberately small-cap-only.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8640" y="50749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crowd is there:  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~90% of trials fail, so shorting biotech into a catalyst is the consensus trade — which is exactly what makes the borrow rich when the model is right.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430000" y="641908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money is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23444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profit is on the long side — the failure signal is what makes the shorts crowded, and the lending rich.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508760" y="199339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~90% of trials fail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852160" y="1993392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crowd systematically shorts biotech names into their catalysts.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3035808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508760" y="30175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Borrow fees spike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852160" y="301752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short demand drives securities-lending rates sky-high on these names.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40080" y="4059936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08760" y="404164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model picks the winners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852160" y="4041648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go long the names that will actually succeed — against the consensus short.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40080" y="5084064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508760" y="506577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lend to the shorts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852160" y="5065776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Collecting their borrow fees as they are proven wrong, on top of the price jump.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11430000" y="641908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02C39A"/>
          </a:solidFill>
          <a:ln>
            <a:solidFill>
              <a:srgbClr val="02C39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280160" y="42062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strategy — deployed = long + lend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298448" y="89611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comes from long price + lending fees; the short leg was tested and dropped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429000" cy="3383280"/>
          </a:xfrm>
          <a:prstGeom prst="roundRect">
            <a:avLst>
              <a:gd name="adj" fmla="val 2432"/>
            </a:avLst>
          </a:prstGeom>
          <a:solidFill>
            <a:srgbClr val="F7F8FC"/>
          </a:solidFill>
          <a:ln w="12700">
            <a:solidFill>
              <a:srgbClr val="E4E6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192024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193852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 + lend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68680" y="269748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known successes ~1 month out, hold ~3 months, and lend the shares to the crowded shorts for borrow-fee income. The engine.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43434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— THE ENGINE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51960" y="1600200"/>
            <a:ext cx="3429000" cy="3383280"/>
          </a:xfrm>
          <a:prstGeom prst="roundRect">
            <a:avLst>
              <a:gd name="adj" fmla="val 2432"/>
            </a:avLst>
          </a:prstGeom>
          <a:solidFill>
            <a:srgbClr val="F7F8FC"/>
          </a:solidFill>
          <a:ln w="12700">
            <a:solidFill>
              <a:srgbClr val="E4E6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92024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392F"/>
          </a:solidFill>
          <a:ln w="12700">
            <a:solidFill>
              <a:srgbClr val="C039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212080" y="193852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Short / puts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572000" y="269748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— or buy puts on — known failures. After honest borrow limits it nets flat-to-negative; only pays in the bull regime. Not deployed.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0" y="43434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03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&amp; DROPPED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955280" y="1600200"/>
            <a:ext cx="3429000" cy="3383280"/>
          </a:xfrm>
          <a:prstGeom prst="roundRect">
            <a:avLst>
              <a:gd name="adj" fmla="val 2432"/>
            </a:avLst>
          </a:prstGeom>
          <a:solidFill>
            <a:srgbClr val="F7F8FC"/>
          </a:solidFill>
          <a:ln w="12700">
            <a:solidFill>
              <a:srgbClr val="E4E6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75320" y="192024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7532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915400" y="193852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Hedge beta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275320" y="269748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biotech-sector exposure hedged with XBI, so returns are alpha, not market direction. Cost return this window.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275320" y="43434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— MANDATE / TAIL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525780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price + lending is the whole engine.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short leg loses money after honest borrow limits (see next slide) and isn't needed for neutrality — the XBI hedge already provides that — so it is dropped.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1430000" y="641908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02C39A"/>
          </a:solidFill>
          <a:ln>
            <a:solidFill>
              <a:srgbClr val="02C39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280160" y="42062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Mechanics &amp; the lending engine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298448" y="89611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levers a reviewer should interrogate — with a worked example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Portfolio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548640" y="1883664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 per position · 10% max per company · 150% gross cap → ~30 positions open; new events queue when full.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2633472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Timing (from our data)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48640" y="2962656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Long: enter T−20, hold to T+63 (~3 mo). Short: enter T−10, cover T+5 (a one-day gap).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3712464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 gate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548640" y="4041648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only 60% of failures as shortable — the biggest drops are the hardest to borrow. This is why the short leg barely earns.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4791456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Costs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48640" y="5120640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bps market impact + 5 bps commission, round trip (small caps move on your trades).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92240" y="1554480"/>
            <a:ext cx="5120640" cy="4160520"/>
          </a:xfrm>
          <a:prstGeom prst="roundRect">
            <a:avLst>
              <a:gd name="adj" fmla="val 1978"/>
            </a:avLst>
          </a:prstGeom>
          <a:solidFill>
            <a:srgbClr val="141B33"/>
          </a:solidFill>
          <a:ln w="12700">
            <a:solidFill>
              <a:srgbClr val="141B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66560" y="1737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Lending income (per position)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766560" y="21945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notional × rate × utilization × days/252 × multiplier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766560" y="27889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pre-catalyst (20d): full rate 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1.0</a:t>
            </a:r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post-catalyst (63d): collapsed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0.10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766560" y="3657600"/>
            <a:ext cx="4572000" cy="0"/>
          </a:xfrm>
          <a:prstGeom prst="line">
            <a:avLst/>
          </a:prstGeom>
          <a:noFill/>
          <a:ln w="12700">
            <a:solidFill>
              <a:srgbClr val="34406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6560" y="3749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— one $1M position (rate 100%/yr, util 40%)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766560" y="411480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   = 1M × 1.00 × 0.40 × 20/252 × 1.00 = $31,700
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= 1M × 1.00 × 0.40 × 63/252 × 0.10 = $10,000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766560" y="49834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lending = $41,700 </a:t>
            </a:r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(4.2% of the position)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1430000" y="641908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02C39A"/>
          </a:solidFill>
          <a:ln>
            <a:solidFill>
              <a:srgbClr val="02C39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280160" y="42062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— deployed long+lend vs the market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298448" y="89611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2016–2019, small-cap, capped pre-COVID · perfect-foresight; realistic 90% model ~$26M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$28.9M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48640" y="20299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$10M grows to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337560" y="137160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29%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3337560" y="20299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CAGR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126480" y="137160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1.65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6126480" y="20299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915400" y="137160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03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−16%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8915400" y="20299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drawdown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06040"/>
          <a:ext cx="594360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914400"/>
                <a:gridCol w="822960"/>
                <a:gridCol w="868680"/>
                <a:gridCol w="8686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$10M 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CAGR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DD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Strategy (perfect foresight)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$28.9M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Strategy @ 90% model (fair)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$26.1M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S&amp;P 500 buy-and-hold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$16.7M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XBI (biotech) buy-and-hold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$15.1M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4" name="Image 0" descr="/Users/gigi/hedgefund-analysis/reports/backtest_equ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2651760"/>
            <a:ext cx="4892040" cy="220370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48640" y="502920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apples-to-apples at the top — the strategy line is perfect-foresight. 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90%-model row ($26.1M, +161%) is the fair comparison, still well above the S&amp;P's +67% with a smaller drawdown.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capped 2020-02-14 so the COVID crash doesn't distort either side.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11430000" y="641908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02C39A"/>
          </a:solidFill>
          <a:ln>
            <a:solidFill>
              <a:srgbClr val="02C39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280160" y="42062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P&amp;L by leg — why we drop the short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298448" y="89611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Universe: 320 small-cap events = 217 successes (longs) + 103 failures · short gate keeps 60% = 62 names · 100% model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417320"/>
                <a:gridCol w="1417320"/>
                <a:gridCol w="1463040"/>
                <a:gridCol w="1371600"/>
                <a:gridCol w="146304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 (assumptions)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L-price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L-lend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 net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BEAR — borrow 30%, 30% short, 150bps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+$15.2M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+$0.6M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C03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−$1.6M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−$1.8M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+$12.3M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— borrow 100%, 60% short, 80bps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+$14.7M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+$4.3M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C03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−$0.6M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−$1.1M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+$17.3M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BULL — borrow 200%, 70% short, 50bps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+$14.7M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+$17.4M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+$0.1M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−$0.8M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+$31.5M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3840480"/>
            <a:ext cx="5486400" cy="1234440"/>
          </a:xfrm>
          <a:prstGeom prst="roundRect">
            <a:avLst>
              <a:gd name="adj" fmla="val 6667"/>
            </a:avLst>
          </a:prstGeom>
          <a:solidFill>
            <a:srgbClr val="FBF3F2"/>
          </a:solidFill>
          <a:ln w="12700">
            <a:solidFill>
              <a:srgbClr val="C0392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3950208"/>
            <a:ext cx="5029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C03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is negative except in BULL.  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103 failures we can borrow only ~60% (62) — the biggest drops are un-borrowable — so what's left barely covers borrow cost. Loses in BEAR/BASE; dropped.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263640" y="3840480"/>
            <a:ext cx="5349240" cy="1234440"/>
          </a:xfrm>
          <a:prstGeom prst="roundRect">
            <a:avLst>
              <a:gd name="adj" fmla="val 6667"/>
            </a:avLst>
          </a:prstGeom>
          <a:solidFill>
            <a:srgbClr val="F0FAF6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92240" y="397764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Lending is the swing factor.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price is stable (~$15M); lending income runs $0.6M → $4.3M → $17.4M across regimes. It adds +18% over price-only.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48640" y="530352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risk is not the short leg — it is misclassifying a failure as a winner.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 long buys a landmine that gaps −15%. Failure-class precision, not raw accuracy, is the number that matters.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11430000" y="641908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02C39A"/>
          </a:solidFill>
          <a:ln>
            <a:solidFill>
              <a:srgbClr val="02C39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280160" y="42062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Robustness — Monte Carlo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298448" y="89611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held fixed (90% &amp; 80%) so trade-luck vs assumption-luck is like-for-like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640080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508760"/>
                <a:gridCol w="150876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varies (accuracy fixed)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 model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 model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 Trade luck (bootstrap)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$26.6M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$23.8M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B1. Assumptions, independent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$26.9M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$24.5M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B2. Assumptions, correlated — hedged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$26.7M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$24.2M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 correlated — un-hedged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$30.4M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$27.6M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i="1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P(lose money over 4yr)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 in every cell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cPr/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4617720"/>
            <a:ext cx="64008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fixed accuracy, trade luck ≈ assumption luck 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not a few lucky deals nor lucky cost guesses. Dropping the short leg removed the downside: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P(loss) is 0% everywhere. 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Un-hedged sits ~$3–4M higher (the hedge cost return here). The lever that dominates is model accuracy.</a:t>
            </a:r>
            <a:endParaRPr lang="en-US" sz="1300" dirty="0"/>
          </a:p>
        </p:txBody>
      </p:sp>
      <p:pic>
        <p:nvPicPr>
          <p:cNvPr id="7" name="Image 0" descr="/Users/gigi/hedgefund-analysis/reports/backtest_montecar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554480"/>
            <a:ext cx="4297680" cy="316382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315200" y="4754880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A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Density-normalized so all curves compare despite different sample counts. 90% (top) / 80% (bottom); purple = un-hedged.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1430000" y="641908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02C39A"/>
          </a:solidFill>
          <a:ln>
            <a:solidFill>
              <a:srgbClr val="02C39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280160" y="42062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could break it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298448" y="89611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confidence on every assumption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657600"/>
                <a:gridCol w="32004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Assumption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Confidence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Entry / exit timing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T−20/T+63 · T−10/T+5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grounded in data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 + 5 bps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 convention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Sizing / caps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 / 10% / 150%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reasonable, swept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Borrow rate + utilization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100%/yr · 40%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C03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assumed — no data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accuracy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 (Step 2 ceiling)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E0A4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ceiling only — 90/80% in MC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XBI hedge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731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E0A4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 — cost return here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21208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BF3F2"/>
          </a:solidFill>
          <a:ln w="12700">
            <a:solidFill>
              <a:srgbClr val="C0392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5303520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C03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uncertainty is borrow economics and model accuracy.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swept in the one-at-a-time and joint Monte Carlo; neither breaks the strategy (P(loss)=0%), but the borrow rate is un-measured until we trade, and accuracy is what Step 3/4 must deliver. Window capped pre-COVID; short executability is gone (leg dropped).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1430000" y="641908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Recommendation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77240" y="169164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the strategy actually add profit?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2286000"/>
            <a:ext cx="5120640" cy="1554480"/>
          </a:xfrm>
          <a:prstGeom prst="roundRect">
            <a:avLst>
              <a:gd name="adj" fmla="val 5294"/>
            </a:avLst>
          </a:prstGeom>
          <a:solidFill>
            <a:srgbClr val="232C4D"/>
          </a:solidFill>
          <a:ln w="12700">
            <a:solidFill>
              <a:srgbClr val="3440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46888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$24.6M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1005840" y="312724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price-trading alone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72200" y="2286000"/>
            <a:ext cx="5212080" cy="1554480"/>
          </a:xfrm>
          <a:prstGeom prst="roundRect">
            <a:avLst>
              <a:gd name="adj" fmla="val 5294"/>
            </a:avLst>
          </a:prstGeom>
          <a:solidFill>
            <a:srgbClr val="0E3B32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24688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$28.9M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6400800" y="312724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lending overlay  </a:t>
            </a:r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(+18%)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39776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the deployed long+lend book; the short leg was tested and dropped. Lending is the differentiator, not decoration.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77240" y="4572000"/>
            <a:ext cx="10607040" cy="1600200"/>
          </a:xfrm>
          <a:prstGeom prst="roundRect">
            <a:avLst>
              <a:gd name="adj" fmla="val 5143"/>
            </a:avLst>
          </a:prstGeom>
          <a:solidFill>
            <a:srgbClr val="232C4D"/>
          </a:solidFill>
          <a:ln w="12700">
            <a:solidFill>
              <a:srgbClr val="3440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47548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5120640"/>
            <a:ext cx="10149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Proceed to Steps 3 / 4 — build the real predictive model and measure its true accuracy.  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have stress-tested a 70–100% accuracy range; we have not built the model. The one number that decides everything is how well it separates winners from landmines.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430000" y="641908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2026-07-31T18:17:35Z</dcterms:created>
  <dcterms:modified xsi:type="dcterms:W3CDTF">2026-07-31T18:17:35Z</dcterms:modified>
</cp:coreProperties>
</file>