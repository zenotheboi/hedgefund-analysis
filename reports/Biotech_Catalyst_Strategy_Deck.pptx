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intro. This is a feasibility study for a biotech trading strategy - we're NOT presenting a finished fund. One naming thing: the STRATEGY is what I'll walk through; 'Alpha Forge' is the name of the predictive MODEL we'd build to drive it - and we haven't built that yet. This study assumes such a model exists and asks 'if it did, is this worth doing?' The idea in one line: about 90% of biotech trials fail, so everyone shorts these stocks - we do the opposite, go long the ones we think win, and rent our shares to the shorts for a fee. I'll cover what a hedge fund is, our assumptions, the strategy, results, and where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point: we bet against the crowd on purpose. The chain is simple. Roughly 9 in 10 drugs entering trials never get approved - that's a well-documented number, it's cited on the slide. So the default trade is to short these stocks into a readout. When everyone's short, the cost to borrow the shares spikes. That's our opening: if our model can find the winners in that pile, we go long them, and because they're so heavily shorted we rent our shares to those short-sellers and collect the fee. So each position pays us twice - the stock goes up, and we earn rent while we hold. That rent is the piece most people overlook.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 so nobody's lost, since the audience may not be finance people. A hedge fund pools money and runs an active bet to beat the market. The word 'hedge' is key - it means cancelling a risk you don't want. In our case we short the biotech ETF so that whether the whole sector rises or falls doesn't matter - we're left with just our own stock-picking. That's 'market-neutral.' For context on the bars: the average hedge fund makes about 8% a year, honestly not amazing; superstars do 20 to 40% but that's rare. And 'good' isn't just high return - it's high return for the risk, steady, survives bad years. Those return numbers are industry estimates, so treat them as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lay out the assumptions plainly, this matters. First, why only small companies, top right - a big drugmaker has twenty drugs so one trial barely moves it, but a small biotech IS its one drug, so the stock reaction is huge and worth trading. Deliberate choice. Then: we start with $10M as a test size; put about $500k, which is 5%, into each name, so we hold roughly 30; we assume trading and borrow costs, and since there's no public data on borrow fees we test a wide range; and critically we assume a model of some accuracy - we don't have it, so we test perfect, 90%, and 80%. Now the gold box, the most important honesty point: our data is 68% winners, which is too high - datasets over-capture the notable positive events. The real blended success rate for the Phase 2, 3 and FDA readouts we trade is about 56%. So we re-run every number at 56% too - I'll always show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insight, a little counter-intuitive. Look at the price path. By the time an approval is announced, the stock has usually already drifted up - winners only rise about 4% over our whole hold, because the market front-runs the good news. The BIG, sharp moves happen on failure: a small-cap that misses its trial drops 14 to 17% in a single day. So the information is really in the surprise, and it's concentrated in small-caps - a big pharma company has twenty drugs so one readout is noise, but a small biotech is that one drug. Last point, and it's why we don't just bet on price: even a real winner can drift DOWN over three months. So we hedge out the market and lend the shares for steady income, rather than relying on the stock always going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roadmap for this slide: I'll explain the strategy we actually run - box one - then the next slide shows the short leg we tested and dropped, with the proof. So box one, long and lend: buy the winners about a month before the catalyst, hold three months, rent the shares out. That's the engine. Box two - we DID test shorting the losers, which sounds obvious since most fail. The problem: the juiciest shorts, the ones that crash hardest, are impossible to borrow, so once realistic that leg loses money except in the best case. Box three, the hedge - short the biotech ETF to cancel sector-wide swings, so we're hedged against a broad biotech selloff. Costs a bit, so it's crash insurance, not profit. Bottom line: profit is long + lend; the other two keep us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for dropping the short leg. We split the P&amp;L by leg across three cost regimes - bear, base, bull - holding the model perfect so the only thing changing is the borrow economics. Look at the SHORT column: it loses $2.2M in bear, loses $0.9M in our base case, and only barely turns positive, plus $0.1M, in the best-case bull regime. The reason is on the slide - of all the failures, only about 60% can even be borrowed to short, and it's the biggest-drop names, the ones you'd most want, that are impossible to borrow. Meanwhile look at the two long columns: long price is steady around $12M, and lending swings from half a million to nearly $15M depending on the regime. So the money is long and lend; the short just doesn't pay after honest limits. That's why we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mechanics so the lending number feels real. We put 5% in each name, hold about 30, enter a month before, exit three months after. Why hold the whole time even if it wobbles? Two reasons - you literally have to hold the shares to rent them out, and the rent is richest right before the catalyst when the shorts pile in. The formula is your position times the borrow rate times 'utilization' - the fraction actually on loan - times time. In the example, a $1M position earns about $31k before and $10k after, so roughly $42k, about 4.2% - and that's ON TOP of whatever the stock does. Don't sweat the formula; the point is lending adds a few percent of steady income to every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headline, over the full four years, 2016 to 2019. The raw backtest turns $10M into $26.3M. But remember our honesty fix - adjust to the realistic 56% success rate and it's $22.3M. I'd lead with both. Two risk numbers in plain English: Sharpe of about 1.5 - return per unit of risk, and above 1 is good, so solid. And max drawdown of minus 18% - the worst dip from a peak along the way. The chart shows the adjusted strategy against the market: we end around $23M hedged, $27M un-hedged, versus the S&amp;P at $17M and biotech at $14M. So even after haircutting ourselves we beat the market, and never have a losing four-year run in the simulations. One honest note next slide - a lot of that edge is the lending, not just stock-picking.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here is: where does the profit come from - stock picking or the lending gimmick? Each bar is one real trade - blue is what the stock did, gold is the lending fee. Add it up: about 77% is the stock going up, 23% is lending. So mostly stock-picking, but lending is a real chunk. Now the honest part in the table: 118 trades won, but 90 LOST money on the stock - cases where the trial succeeded but the stock still drifted down. We don't win them all. Why lending matters beyond the 23%: it pays on every single trade no matter what the stock does, so it steadily cushions those 90 losers. One reconciliation, since someone will ask - earlier I said 217 winners, here it's 208 because about 9 got skipped when we already had 30 positions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challenge: do you even need a model, or are you just riding a good biotech market? So we tested the dumbest version - no model, buy EVERY catalyst and lend. Even that makes $16M at the realistic 56% rate, because winners still slightly outnumber losers - about 1.3 to 1, not a huge edge - and lending pays on all. Add a 90% model and you get $22M, so the model is worth about 40% more. BUT - and someone will push on this - that no-model floor is fragile. It only works because 2016 to 2019 was friendly; in a worse market or with more failures, buying everything would lose. So I would NOT promise 'you can't lose by buying everything.' The real value of the model is two things: it lifts the return, and it keeps the whole thing standing when winners get rare -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uncertainty slide, with a specific structure. Up top the setup: we HOLD model accuracy fixed - 90%, then 80% - and hold our design choices fixed, like sizing and timing. What we DRAW AT RANDOM are the four things we genuinely don't know: borrow rate, utilization, the post-event fade, and trading cost, each over a wide range. Then we re-ran 500 times. The table: at a 90% model the typical run makes about $22M, with 90% of runs between $18M and $27M; at 80% it's about $19.5M. We draw the assumptions two ways - independently, and correlated, meaning a bad-liquidity regime hits all at once - and even correlated it barely moves. Zero runs lose money. The header says 'precision 92%' - how often the model's 'success' call is right, high because we're at the realistic 56% base rate, which is next. Honest caveat: this only shuffles cost guesses; every run still uses 2016-2019 prices, so '0% loss' means in a market like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ties back to that 56% adjustment - here's WHY it mattered so much. 'Accuracy' can fool you. Picture 1,000 companies where only 10% win. Even a 90%-accurate model catches 90 of the 100 winners, but it also wrongly flags 90 of the 900 losers as winners. So it says 'success' to 180 names and only half are real - precision of 50%. Half your book would be landmines that crash, even though the model is technically 90% accurate. That's the base-rate trap. Now connect it: the rarer winners are, the worse precision gets. That's the entire reason we refused to use our flattering 68% and adjusted to the realistic 56% - because at 56% that same 90% model is 92% precise and holds up, whereas in a 10% world it falls apart. Message to whoever builds the model: chase precision, not just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flag our own weak spots than have someone find them. Top of the list in red: model precision - we don't have the model yet, so 92% is a target, not a fact, and everything hinges on it. Borrow economics we assumed with no hard data, though we stress-tested a wide range. Timing and costs are solid. Two amber ones people miss: first, every simulation uses 2016-to-2019 prices, so 'never loses' means never loses IN a market like that - a real sector crash is a separate risk, which the optional hedge insures against. Second, the hedge itself cost us return in this friendly window. None of these are dealbreakers, but that's the honest fine print, and I wanted you to hear it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much money can this hold? About $100M, built up properly. Start with the real constraint: to avoid moving the price you can only safely trade about 10 to 20% of a stock's daily volume in a day - trade more and everyone sees a big buyer and the price runs away. We build a position gradually over our roughly one-month entry window, and that safely lets you accumulate about one full day's volume per name. The stocks are tiny - the typical one trades only about $3.3M a day - so a position tops out around $3 to $5M. THAT position is our 5% slice, so the fund can be roughly 20 times that, landing at $67 to $134M - call it $100M. Past that you skip the smallest names or pay up, and the edge bleeds away. A sharp niche fund, not a giant - fine for an uncorrelated sleeve.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the ask. The economics work: even after we haircut to the realistic 56%, long+lend makes about $22M, 22% a year, never has a losing four-year run in the sims, and beats the market, with lending adding about a fifth of the profit. And there's a positive floor even with no skill in a normal market. The catch - the whole thing now hinges on one question: can we build a model that's not just accurate but PRECISE, so we keep landmines out. Next steps are concrete: build and validate the model - the 'Alpha Forge' piece - and measure its precision; add a stop-loss to cut losers and landmines; and confirm borrow economics with a real prime broker. We'd run it as roughly a $100M uncorrelated sleeve. Recommendation: proceed to build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is backup for questions - not part of the main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Stylianos ask - vary one assumption at a time and see which matters most. Each bar holds everything else fixed and sweeps just that one input. The clear winner is borrow rate, the cost of lending - the widest bar - so that's the number to pin down with a prime broker. But even in the worst single-variable case it still lands around $20M, so nothing here is a dealbreaker.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anyone who asks how the hedge works. We short the biotech ETF, XBI - a basket of biotech names - so we're not exposed to whether the whole sector goes up or down. We size it by beta: each stock's sensitivity to the ETF, from a regression on its returns before the event, and we short beta times the position, so a jumpier stock gets a bigger hedge. What it protects against is a broad biotech selloff - if the sector craters, the short gains and offsets our longs. And honestly: in 2016-2019 biotech mostly rose, so the hedge cost us return; it did help in the late-2018 selloff, cutting the drawdown from about 14% to 5%, but it hurt during the 2017 rally. That's why we call it optional insurance.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what the honesty adjustment does to the equity curve. Green is our raw 68% dataset, red is the realistic 56%. Notice they start together and the gap WIDENS over time - it's a fan, not a parallel drop. That's because the extra failures in the 56% version crash at their own scattered dates, so the drag builds up as the strategy runs. The 56% line still climbs steadily, just at a shallower rate, ending around $23M instead of $26M. Same shape, lower slope.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3"/>
        </a:solidFill>
      </p:bgPr>
    </p:bg>
    <p:spTree>
      <p:nvGrpSpPr>
        <p:cNvPr id="1" name=""/>
        <p:cNvGrpSpPr/>
        <p:nvPr/>
      </p:nvGrpSpPr>
      <p:grpSpPr>
        <a:xfrm>
          <a:off x="0" y="0"/>
          <a:ext cx="0" cy="0"/>
          <a:chOff x="0" y="0"/>
          <a:chExt cx="0" cy="0"/>
        </a:xfrm>
      </p:grpSpPr>
      <p:sp>
        <p:nvSpPr>
          <p:cNvPr id="2" name="Text 0"/>
          <p:cNvSpPr/>
          <p:nvPr/>
        </p:nvSpPr>
        <p:spPr>
          <a:xfrm>
            <a:off x="822960" y="1325880"/>
            <a:ext cx="10058400" cy="365760"/>
          </a:xfrm>
          <a:prstGeom prst="rect">
            <a:avLst/>
          </a:prstGeom>
          <a:noFill/>
          <a:ln/>
        </p:spPr>
        <p:txBody>
          <a:bodyPr wrap="square"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INVESTMENT COMMITTEE  ·  FEASIBILITY REVIEW</a:t>
            </a:r>
            <a:endParaRPr lang="en-US" sz="1300" dirty="0"/>
          </a:p>
        </p:txBody>
      </p:sp>
      <p:sp>
        <p:nvSpPr>
          <p:cNvPr id="3" name="Text 1"/>
          <p:cNvSpPr/>
          <p:nvPr/>
        </p:nvSpPr>
        <p:spPr>
          <a:xfrm>
            <a:off x="777240" y="1783080"/>
            <a:ext cx="10789920" cy="12801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Biotech Clinical-Catalyst Strategy</a:t>
            </a:r>
            <a:endParaRPr lang="en-US" sz="4600" dirty="0"/>
          </a:p>
        </p:txBody>
      </p:sp>
      <p:sp>
        <p:nvSpPr>
          <p:cNvPr id="4" name="Text 2"/>
          <p:cNvSpPr/>
          <p:nvPr/>
        </p:nvSpPr>
        <p:spPr>
          <a:xfrm>
            <a:off x="822960" y="3063240"/>
            <a:ext cx="10424160" cy="54864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Go long the clinical winners the crowd is busy shorting - and rent them the shares. Market-neutral.</a:t>
            </a:r>
            <a:endParaRPr lang="en-US" sz="1800" dirty="0"/>
          </a:p>
        </p:txBody>
      </p:sp>
      <p:sp>
        <p:nvSpPr>
          <p:cNvPr id="5" name="Text 3"/>
          <p:cNvSpPr/>
          <p:nvPr/>
        </p:nvSpPr>
        <p:spPr>
          <a:xfrm>
            <a:off x="822960" y="3703320"/>
            <a:ext cx="104241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This study ASSUMES a predictive model ("Alpha Forge") and sizes the prize. </a:t>
            </a:r>
            <a:pPr indent="0" marL="0">
              <a:buNone/>
            </a:pPr>
            <a:r>
              <a:rPr lang="en-US" sz="1400" dirty="0">
                <a:solidFill>
                  <a:srgbClr val="8A919B"/>
                </a:solidFill>
                <a:latin typeface="Calibri" pitchFamily="34" charset="0"/>
                <a:ea typeface="Calibri" pitchFamily="34" charset="-122"/>
                <a:cs typeface="Calibri" pitchFamily="34" charset="-120"/>
              </a:rPr>
              <a:t>Building that model is the next step.</a:t>
            </a:r>
            <a:endParaRPr lang="en-US" sz="1400" dirty="0"/>
          </a:p>
        </p:txBody>
      </p:sp>
      <p:sp>
        <p:nvSpPr>
          <p:cNvPr id="6" name="Text 4"/>
          <p:cNvSpPr/>
          <p:nvPr/>
        </p:nvSpPr>
        <p:spPr>
          <a:xfrm>
            <a:off x="822960" y="507492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$10M</a:t>
            </a:r>
            <a:endParaRPr lang="en-US" sz="2200" dirty="0"/>
          </a:p>
        </p:txBody>
      </p:sp>
      <p:sp>
        <p:nvSpPr>
          <p:cNvPr id="7" name="Text 5"/>
          <p:cNvSpPr/>
          <p:nvPr/>
        </p:nvSpPr>
        <p:spPr>
          <a:xfrm>
            <a:off x="822960" y="553212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assumed capital</a:t>
            </a:r>
            <a:endParaRPr lang="en-US" sz="1200" dirty="0"/>
          </a:p>
        </p:txBody>
      </p:sp>
      <p:sp>
        <p:nvSpPr>
          <p:cNvPr id="8" name="Text 6"/>
          <p:cNvSpPr/>
          <p:nvPr/>
        </p:nvSpPr>
        <p:spPr>
          <a:xfrm>
            <a:off x="3566160" y="507492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2016-2019</a:t>
            </a:r>
            <a:endParaRPr lang="en-US" sz="2200" dirty="0"/>
          </a:p>
        </p:txBody>
      </p:sp>
      <p:sp>
        <p:nvSpPr>
          <p:cNvPr id="9" name="Text 7"/>
          <p:cNvSpPr/>
          <p:nvPr/>
        </p:nvSpPr>
        <p:spPr>
          <a:xfrm>
            <a:off x="3566160" y="553212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320 catalysts</a:t>
            </a:r>
            <a:endParaRPr lang="en-US" sz="1200" dirty="0"/>
          </a:p>
        </p:txBody>
      </p:sp>
      <p:sp>
        <p:nvSpPr>
          <p:cNvPr id="10" name="Text 8"/>
          <p:cNvSpPr/>
          <p:nvPr/>
        </p:nvSpPr>
        <p:spPr>
          <a:xfrm>
            <a:off x="6309360" y="507492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Long + lend</a:t>
            </a:r>
            <a:endParaRPr lang="en-US" sz="2200" dirty="0"/>
          </a:p>
        </p:txBody>
      </p:sp>
      <p:sp>
        <p:nvSpPr>
          <p:cNvPr id="11" name="Text 9"/>
          <p:cNvSpPr/>
          <p:nvPr/>
        </p:nvSpPr>
        <p:spPr>
          <a:xfrm>
            <a:off x="6309360" y="553212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the strategy</a:t>
            </a:r>
            <a:endParaRPr lang="en-US" sz="1200" dirty="0"/>
          </a:p>
        </p:txBody>
      </p:sp>
      <p:sp>
        <p:nvSpPr>
          <p:cNvPr id="12" name="Text 10"/>
          <p:cNvSpPr/>
          <p:nvPr/>
        </p:nvSpPr>
        <p:spPr>
          <a:xfrm>
            <a:off x="9052560" y="5074920"/>
            <a:ext cx="2560320" cy="45720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~$100M</a:t>
            </a:r>
            <a:endParaRPr lang="en-US" sz="2200" dirty="0"/>
          </a:p>
        </p:txBody>
      </p:sp>
      <p:sp>
        <p:nvSpPr>
          <p:cNvPr id="13" name="Text 11"/>
          <p:cNvSpPr/>
          <p:nvPr/>
        </p:nvSpPr>
        <p:spPr>
          <a:xfrm>
            <a:off x="9052560" y="5532120"/>
            <a:ext cx="256032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capacity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Motivation - why biotech, why now</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Everyone shorts biotech into a catalyst. We take the educated opposite side.</a:t>
            </a:r>
            <a:endParaRPr lang="en-US" sz="1250" dirty="0"/>
          </a:p>
        </p:txBody>
      </p:sp>
      <p:sp>
        <p:nvSpPr>
          <p:cNvPr id="5" name="Text 3"/>
          <p:cNvSpPr/>
          <p:nvPr/>
        </p:nvSpPr>
        <p:spPr>
          <a:xfrm>
            <a:off x="640080" y="1554480"/>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417320" y="1536192"/>
            <a:ext cx="429768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~90% of trials never reach approval</a:t>
            </a:r>
            <a:endParaRPr lang="en-US" sz="1700" dirty="0"/>
          </a:p>
        </p:txBody>
      </p:sp>
      <p:sp>
        <p:nvSpPr>
          <p:cNvPr id="7" name="Text 5"/>
          <p:cNvSpPr/>
          <p:nvPr/>
        </p:nvSpPr>
        <p:spPr>
          <a:xfrm>
            <a:off x="5897880" y="1536192"/>
            <a:ext cx="576072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So shorting a biotech into its trial readout is the consensus, crowded trade.</a:t>
            </a:r>
            <a:endParaRPr lang="en-US" sz="1350" dirty="0"/>
          </a:p>
        </p:txBody>
      </p:sp>
      <p:sp>
        <p:nvSpPr>
          <p:cNvPr id="8" name="Text 6"/>
          <p:cNvSpPr/>
          <p:nvPr/>
        </p:nvSpPr>
        <p:spPr>
          <a:xfrm>
            <a:off x="640080" y="2578608"/>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9" name="Text 7"/>
          <p:cNvSpPr/>
          <p:nvPr/>
        </p:nvSpPr>
        <p:spPr>
          <a:xfrm>
            <a:off x="1417320" y="2560320"/>
            <a:ext cx="429768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Crowded shorts = rich borrow fees</a:t>
            </a:r>
            <a:endParaRPr lang="en-US" sz="1700" dirty="0"/>
          </a:p>
        </p:txBody>
      </p:sp>
      <p:sp>
        <p:nvSpPr>
          <p:cNvPr id="10" name="Text 8"/>
          <p:cNvSpPr/>
          <p:nvPr/>
        </p:nvSpPr>
        <p:spPr>
          <a:xfrm>
            <a:off x="5897880" y="2560320"/>
            <a:ext cx="576072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When everyone shorts a name, the fee to borrow its shares to short goes sky-high.</a:t>
            </a:r>
            <a:endParaRPr lang="en-US" sz="1350" dirty="0"/>
          </a:p>
        </p:txBody>
      </p:sp>
      <p:sp>
        <p:nvSpPr>
          <p:cNvPr id="11" name="Text 9"/>
          <p:cNvSpPr/>
          <p:nvPr/>
        </p:nvSpPr>
        <p:spPr>
          <a:xfrm>
            <a:off x="640080" y="3602736"/>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2" name="Text 10"/>
          <p:cNvSpPr/>
          <p:nvPr/>
        </p:nvSpPr>
        <p:spPr>
          <a:xfrm>
            <a:off x="1417320" y="3584448"/>
            <a:ext cx="429768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We flip it</a:t>
            </a:r>
            <a:endParaRPr lang="en-US" sz="1700" dirty="0"/>
          </a:p>
        </p:txBody>
      </p:sp>
      <p:sp>
        <p:nvSpPr>
          <p:cNvPr id="13" name="Text 11"/>
          <p:cNvSpPr/>
          <p:nvPr/>
        </p:nvSpPr>
        <p:spPr>
          <a:xfrm>
            <a:off x="5897880" y="3584448"/>
            <a:ext cx="576072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Go LONG the ones our model says will succeed - and LEND our shares to the crowd shorting them.</a:t>
            </a:r>
            <a:endParaRPr lang="en-US" sz="1350" dirty="0"/>
          </a:p>
        </p:txBody>
      </p:sp>
      <p:sp>
        <p:nvSpPr>
          <p:cNvPr id="14" name="Text 12"/>
          <p:cNvSpPr/>
          <p:nvPr/>
        </p:nvSpPr>
        <p:spPr>
          <a:xfrm>
            <a:off x="640080" y="4626864"/>
            <a:ext cx="594360" cy="594360"/>
          </a:xfrm>
          <a:prstGeom prst="roundRect">
            <a:avLst>
              <a:gd name="adj" fmla="val 49231"/>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3"/>
          <p:cNvSpPr/>
          <p:nvPr/>
        </p:nvSpPr>
        <p:spPr>
          <a:xfrm>
            <a:off x="1417320" y="4608576"/>
            <a:ext cx="4297680" cy="64008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Two ways to win on one position</a:t>
            </a:r>
            <a:endParaRPr lang="en-US" sz="1700" dirty="0"/>
          </a:p>
        </p:txBody>
      </p:sp>
      <p:sp>
        <p:nvSpPr>
          <p:cNvPr id="16" name="Text 14"/>
          <p:cNvSpPr/>
          <p:nvPr/>
        </p:nvSpPr>
        <p:spPr>
          <a:xfrm>
            <a:off x="5897880" y="4608576"/>
            <a:ext cx="5760720" cy="685800"/>
          </a:xfrm>
          <a:prstGeom prst="rect">
            <a:avLst/>
          </a:prstGeom>
          <a:noFill/>
          <a:ln/>
        </p:spPr>
        <p:txBody>
          <a:bodyPr wrap="square" lIns="0" tIns="0" rIns="0" bIns="0" rtlCol="0" anchor="ctr"/>
          <a:lstStyle/>
          <a:p>
            <a:pPr indent="0" marL="0">
              <a:buNone/>
            </a:pPr>
            <a:r>
              <a:rPr lang="en-US" sz="1350" dirty="0">
                <a:solidFill>
                  <a:srgbClr val="27313F"/>
                </a:solidFill>
                <a:latin typeface="Calibri" pitchFamily="34" charset="0"/>
                <a:ea typeface="Calibri" pitchFamily="34" charset="-122"/>
                <a:cs typeface="Calibri" pitchFamily="34" charset="-120"/>
              </a:rPr>
              <a:t>The stock re-rates up, AND we collect the borrow fee the whole time we hold.</a:t>
            </a:r>
            <a:endParaRPr lang="en-US" sz="1350" dirty="0"/>
          </a:p>
        </p:txBody>
      </p:sp>
      <p:sp>
        <p:nvSpPr>
          <p:cNvPr id="17" name="Text 15"/>
          <p:cNvSpPr/>
          <p:nvPr/>
        </p:nvSpPr>
        <p:spPr>
          <a:xfrm>
            <a:off x="548640" y="6419088"/>
            <a:ext cx="10607040" cy="274320"/>
          </a:xfrm>
          <a:prstGeom prst="rect">
            <a:avLst/>
          </a:prstGeom>
          <a:noFill/>
          <a:ln/>
        </p:spPr>
        <p:txBody>
          <a:bodyPr wrap="square" rtlCol="0" anchor="ctr"/>
          <a:lstStyle/>
          <a:p>
            <a:pPr indent="0" marL="0">
              <a:buNone/>
            </a:pPr>
            <a:r>
              <a:rPr lang="en-US" sz="850" i="1" dirty="0">
                <a:solidFill>
                  <a:srgbClr val="8A919B"/>
                </a:solidFill>
                <a:latin typeface="Calibri" pitchFamily="34" charset="0"/>
                <a:ea typeface="Calibri" pitchFamily="34" charset="-122"/>
                <a:cs typeface="Calibri" pitchFamily="34" charset="-120"/>
              </a:rPr>
              <a:t>Source: Clinical-trial success ~10% overall (Phase 1 -&gt; approval): Wong, Siah &amp; Lo, Biostatistics 2019; BIO/Informa 2021.</a:t>
            </a:r>
            <a:endParaRPr lang="en-US" sz="850" dirty="0"/>
          </a:p>
        </p:txBody>
      </p:sp>
      <p:sp>
        <p:nvSpPr>
          <p:cNvPr id="18" name="Text 16"/>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What is a hedge fund? (the 30-second version)</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 pooled fund that tries to make money in any market - by 'hedging' out what it can't predict.</a:t>
            </a:r>
            <a:endParaRPr lang="en-US" sz="1250" dirty="0"/>
          </a:p>
        </p:txBody>
      </p:sp>
      <p:sp>
        <p:nvSpPr>
          <p:cNvPr id="5" name="Text 3"/>
          <p:cNvSpPr/>
          <p:nvPr/>
        </p:nvSpPr>
        <p:spPr>
          <a:xfrm>
            <a:off x="548640" y="1508760"/>
            <a:ext cx="11064240" cy="868680"/>
          </a:xfrm>
          <a:prstGeom prst="rect">
            <a:avLst/>
          </a:prstGeom>
          <a:noFill/>
          <a:ln/>
        </p:spPr>
        <p:txBody>
          <a:bodyPr wrap="square" rtlCol="0" anchor="t"/>
          <a:lstStyle/>
          <a:p>
            <a:pPr indent="0" marL="0">
              <a:lnSpc>
                <a:spcPct val="120000"/>
              </a:lnSpc>
              <a:buNone/>
            </a:pPr>
            <a:r>
              <a:rPr lang="en-US" sz="1500" dirty="0">
                <a:solidFill>
                  <a:srgbClr val="27313F"/>
                </a:solidFill>
                <a:latin typeface="Calibri" pitchFamily="34" charset="0"/>
                <a:ea typeface="Calibri" pitchFamily="34" charset="-122"/>
                <a:cs typeface="Calibri" pitchFamily="34" charset="-120"/>
              </a:rPr>
              <a:t>It pools investors' money and runs an active strategy. "Hedging" means </a:t>
            </a:r>
            <a:pPr indent="0" marL="0">
              <a:lnSpc>
                <a:spcPct val="120000"/>
              </a:lnSpc>
              <a:buNone/>
            </a:pPr>
            <a:r>
              <a:rPr lang="en-US" sz="1500" b="1" dirty="0">
                <a:solidFill>
                  <a:srgbClr val="1E2761"/>
                </a:solidFill>
                <a:latin typeface="Calibri" pitchFamily="34" charset="0"/>
                <a:ea typeface="Calibri" pitchFamily="34" charset="-122"/>
                <a:cs typeface="Calibri" pitchFamily="34" charset="-120"/>
              </a:rPr>
              <a:t>cancelling out a risk you don't want</a:t>
            </a:r>
            <a:pPr indent="0" marL="0">
              <a:lnSpc>
                <a:spcPct val="120000"/>
              </a:lnSpc>
              <a:buNone/>
            </a:pPr>
            <a:r>
              <a:rPr lang="en-US" sz="1500" dirty="0">
                <a:solidFill>
                  <a:srgbClr val="27313F"/>
                </a:solidFill>
                <a:latin typeface="Calibri" pitchFamily="34" charset="0"/>
                <a:ea typeface="Calibri" pitchFamily="34" charset="-122"/>
                <a:cs typeface="Calibri" pitchFamily="34" charset="-120"/>
              </a:rPr>
              <a:t> - here, we short the biotech ETF to remove "did the whole sector move," leaving just our stock-picking.</a:t>
            </a:r>
            <a:endParaRPr lang="en-US" sz="1500" dirty="0"/>
          </a:p>
        </p:txBody>
      </p:sp>
      <p:sp>
        <p:nvSpPr>
          <p:cNvPr id="6" name="Shape 4"/>
          <p:cNvSpPr/>
          <p:nvPr/>
        </p:nvSpPr>
        <p:spPr>
          <a:xfrm>
            <a:off x="548640" y="2697480"/>
            <a:ext cx="3429000" cy="2240280"/>
          </a:xfrm>
          <a:prstGeom prst="roundRect">
            <a:avLst>
              <a:gd name="adj" fmla="val 3673"/>
            </a:avLst>
          </a:prstGeom>
          <a:solidFill>
            <a:srgbClr val="F4F6FC"/>
          </a:solidFill>
          <a:ln w="12700">
            <a:solidFill>
              <a:srgbClr val="E4E6EE"/>
            </a:solidFill>
            <a:prstDash val="solid"/>
          </a:ln>
        </p:spPr>
      </p:sp>
      <p:sp>
        <p:nvSpPr>
          <p:cNvPr id="7" name="Text 5"/>
          <p:cNvSpPr/>
          <p:nvPr/>
        </p:nvSpPr>
        <p:spPr>
          <a:xfrm>
            <a:off x="822960" y="288036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Average hedge fund</a:t>
            </a:r>
            <a:endParaRPr lang="en-US" sz="1600" dirty="0"/>
          </a:p>
        </p:txBody>
      </p:sp>
      <p:sp>
        <p:nvSpPr>
          <p:cNvPr id="8" name="Text 6"/>
          <p:cNvSpPr/>
          <p:nvPr/>
        </p:nvSpPr>
        <p:spPr>
          <a:xfrm>
            <a:off x="822960" y="3474720"/>
            <a:ext cx="2880360" cy="54864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~8% / yr</a:t>
            </a:r>
            <a:endParaRPr lang="en-US" sz="2200" dirty="0"/>
          </a:p>
        </p:txBody>
      </p:sp>
      <p:sp>
        <p:nvSpPr>
          <p:cNvPr id="9" name="Text 7"/>
          <p:cNvSpPr/>
          <p:nvPr/>
        </p:nvSpPr>
        <p:spPr>
          <a:xfrm>
            <a:off x="822960" y="411480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the typical fund; many barely beat a plain index after fees</a:t>
            </a:r>
            <a:endParaRPr lang="en-US" sz="1250" dirty="0"/>
          </a:p>
        </p:txBody>
      </p:sp>
      <p:sp>
        <p:nvSpPr>
          <p:cNvPr id="10" name="Shape 8"/>
          <p:cNvSpPr/>
          <p:nvPr/>
        </p:nvSpPr>
        <p:spPr>
          <a:xfrm>
            <a:off x="4251960" y="2697480"/>
            <a:ext cx="3429000" cy="2240280"/>
          </a:xfrm>
          <a:prstGeom prst="roundRect">
            <a:avLst>
              <a:gd name="adj" fmla="val 3673"/>
            </a:avLst>
          </a:prstGeom>
          <a:solidFill>
            <a:srgbClr val="F4F6FC"/>
          </a:solidFill>
          <a:ln w="12700">
            <a:solidFill>
              <a:srgbClr val="E4E6EE"/>
            </a:solidFill>
            <a:prstDash val="solid"/>
          </a:ln>
        </p:spPr>
      </p:sp>
      <p:sp>
        <p:nvSpPr>
          <p:cNvPr id="11" name="Text 9"/>
          <p:cNvSpPr/>
          <p:nvPr/>
        </p:nvSpPr>
        <p:spPr>
          <a:xfrm>
            <a:off x="4526280" y="288036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Top-tier funds</a:t>
            </a:r>
            <a:endParaRPr lang="en-US" sz="1600" dirty="0"/>
          </a:p>
        </p:txBody>
      </p:sp>
      <p:sp>
        <p:nvSpPr>
          <p:cNvPr id="12" name="Text 10"/>
          <p:cNvSpPr/>
          <p:nvPr/>
        </p:nvSpPr>
        <p:spPr>
          <a:xfrm>
            <a:off x="4526280" y="3474720"/>
            <a:ext cx="2880360" cy="54864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~20-40% / yr</a:t>
            </a:r>
            <a:endParaRPr lang="en-US" sz="2200" dirty="0"/>
          </a:p>
        </p:txBody>
      </p:sp>
      <p:sp>
        <p:nvSpPr>
          <p:cNvPr id="13" name="Text 11"/>
          <p:cNvSpPr/>
          <p:nvPr/>
        </p:nvSpPr>
        <p:spPr>
          <a:xfrm>
            <a:off x="4526280" y="411480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the best quant shops - rare, and hard to sustain</a:t>
            </a:r>
            <a:endParaRPr lang="en-US" sz="1250" dirty="0"/>
          </a:p>
        </p:txBody>
      </p:sp>
      <p:sp>
        <p:nvSpPr>
          <p:cNvPr id="14" name="Shape 12"/>
          <p:cNvSpPr/>
          <p:nvPr/>
        </p:nvSpPr>
        <p:spPr>
          <a:xfrm>
            <a:off x="7955280" y="2697480"/>
            <a:ext cx="3429000" cy="2240280"/>
          </a:xfrm>
          <a:prstGeom prst="roundRect">
            <a:avLst>
              <a:gd name="adj" fmla="val 3673"/>
            </a:avLst>
          </a:prstGeom>
          <a:solidFill>
            <a:srgbClr val="F4F6FC"/>
          </a:solidFill>
          <a:ln w="12700">
            <a:solidFill>
              <a:srgbClr val="E4E6EE"/>
            </a:solidFill>
            <a:prstDash val="solid"/>
          </a:ln>
        </p:spPr>
      </p:sp>
      <p:sp>
        <p:nvSpPr>
          <p:cNvPr id="15" name="Text 13"/>
          <p:cNvSpPr/>
          <p:nvPr/>
        </p:nvSpPr>
        <p:spPr>
          <a:xfrm>
            <a:off x="8229600" y="2880360"/>
            <a:ext cx="2880360" cy="640080"/>
          </a:xfrm>
          <a:prstGeom prst="rect">
            <a:avLst/>
          </a:prstGeom>
          <a:noFill/>
          <a:ln/>
        </p:spPr>
        <p:txBody>
          <a:bodyPr wrap="square" lIns="0" tIns="0" rIns="0" bIns="0" rtlCol="0" anchor="t"/>
          <a:lstStyle/>
          <a:p>
            <a:pPr indent="0" marL="0">
              <a:buNone/>
            </a:pPr>
            <a:r>
              <a:rPr lang="en-US" sz="1600" b="1" dirty="0">
                <a:solidFill>
                  <a:srgbClr val="1E2761"/>
                </a:solidFill>
                <a:latin typeface="Cambria" pitchFamily="34" charset="0"/>
                <a:ea typeface="Cambria" pitchFamily="34" charset="-122"/>
                <a:cs typeface="Cambria" pitchFamily="34" charset="-120"/>
              </a:rPr>
              <a:t>What makes one 'good'</a:t>
            </a:r>
            <a:endParaRPr lang="en-US" sz="1600" dirty="0"/>
          </a:p>
        </p:txBody>
      </p:sp>
      <p:sp>
        <p:nvSpPr>
          <p:cNvPr id="16" name="Text 14"/>
          <p:cNvSpPr/>
          <p:nvPr/>
        </p:nvSpPr>
        <p:spPr>
          <a:xfrm>
            <a:off x="8229600" y="3474720"/>
            <a:ext cx="2880360" cy="548640"/>
          </a:xfrm>
          <a:prstGeom prst="rect">
            <a:avLst/>
          </a:prstGeom>
          <a:noFill/>
          <a:ln/>
        </p:spPr>
        <p:txBody>
          <a:bodyPr wrap="square" lIns="0" tIns="0" rIns="0" bIns="0" rtlCol="0" anchor="ctr"/>
          <a:lstStyle/>
          <a:p>
            <a:pPr indent="0" marL="0">
              <a:buNone/>
            </a:pPr>
            <a:r>
              <a:rPr lang="en-US" sz="2200" b="1" dirty="0">
                <a:solidFill>
                  <a:srgbClr val="02C39A"/>
                </a:solidFill>
                <a:latin typeface="Cambria" pitchFamily="34" charset="0"/>
                <a:ea typeface="Cambria" pitchFamily="34" charset="-122"/>
                <a:cs typeface="Cambria" pitchFamily="34" charset="-120"/>
              </a:rPr>
              <a:t>return per unit of risk</a:t>
            </a:r>
            <a:endParaRPr lang="en-US" sz="2200" dirty="0"/>
          </a:p>
        </p:txBody>
      </p:sp>
      <p:sp>
        <p:nvSpPr>
          <p:cNvPr id="17" name="Text 15"/>
          <p:cNvSpPr/>
          <p:nvPr/>
        </p:nvSpPr>
        <p:spPr>
          <a:xfrm>
            <a:off x="8229600" y="4114800"/>
            <a:ext cx="2880360" cy="77724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steady, uncorrelated to the market, survives bad years</a:t>
            </a:r>
            <a:endParaRPr lang="en-US" sz="1250" dirty="0"/>
          </a:p>
        </p:txBody>
      </p:sp>
      <p:sp>
        <p:nvSpPr>
          <p:cNvPr id="18" name="Text 16"/>
          <p:cNvSpPr/>
          <p:nvPr/>
        </p:nvSpPr>
        <p:spPr>
          <a:xfrm>
            <a:off x="548640" y="5166360"/>
            <a:ext cx="11064240" cy="457200"/>
          </a:xfrm>
          <a:prstGeom prst="rect">
            <a:avLst/>
          </a:prstGeom>
          <a:noFill/>
          <a:ln/>
        </p:spPr>
        <p:txBody>
          <a:bodyPr wrap="square" rtlCol="0" anchor="ctr"/>
          <a:lstStyle/>
          <a:p>
            <a:pPr indent="0" marL="0">
              <a:buNone/>
            </a:pPr>
            <a:r>
              <a:rPr lang="en-US" sz="1300" i="1" dirty="0">
                <a:solidFill>
                  <a:srgbClr val="5B636E"/>
                </a:solidFill>
                <a:latin typeface="Calibri" pitchFamily="34" charset="0"/>
                <a:ea typeface="Calibri" pitchFamily="34" charset="-122"/>
                <a:cs typeface="Calibri" pitchFamily="34" charset="-120"/>
              </a:rPr>
              <a:t>Where this sits: a small, market-neutral, uncorrelated sleeve - not the next multi-billion flagship (see capacity slide).</a:t>
            </a:r>
            <a:endParaRPr lang="en-US" sz="1300" dirty="0"/>
          </a:p>
        </p:txBody>
      </p:sp>
      <p:sp>
        <p:nvSpPr>
          <p:cNvPr id="19" name="Text 17"/>
          <p:cNvSpPr/>
          <p:nvPr/>
        </p:nvSpPr>
        <p:spPr>
          <a:xfrm>
            <a:off x="548640" y="6419088"/>
            <a:ext cx="10607040" cy="274320"/>
          </a:xfrm>
          <a:prstGeom prst="rect">
            <a:avLst/>
          </a:prstGeom>
          <a:noFill/>
          <a:ln/>
        </p:spPr>
        <p:txBody>
          <a:bodyPr wrap="square" rtlCol="0" anchor="ctr"/>
          <a:lstStyle/>
          <a:p>
            <a:pPr indent="0" marL="0">
              <a:buNone/>
            </a:pPr>
            <a:r>
              <a:rPr lang="en-US" sz="850" i="1" dirty="0">
                <a:solidFill>
                  <a:srgbClr val="8A919B"/>
                </a:solidFill>
                <a:latin typeface="Calibri" pitchFamily="34" charset="0"/>
                <a:ea typeface="Calibri" pitchFamily="34" charset="-122"/>
                <a:cs typeface="Calibri" pitchFamily="34" charset="-120"/>
              </a:rPr>
              <a:t>Source: Return ranges are industry estimates (HFR composite ~mid-single digits; top funds per press) - illustrative, verify before external use.</a:t>
            </a:r>
            <a:endParaRPr lang="en-US" sz="850" dirty="0"/>
          </a:p>
        </p:txBody>
      </p:sp>
      <p:sp>
        <p:nvSpPr>
          <p:cNvPr id="20" name="Text 18"/>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What we're assuming (and the dataset)</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Plain-English assumptions - plus the one honesty adjustment that matters most.</a:t>
            </a:r>
            <a:endParaRPr lang="en-US" sz="1250" dirty="0"/>
          </a:p>
        </p:txBody>
      </p:sp>
      <p:pic>
        <p:nvPicPr>
          <p:cNvPr id="5" name="Image 0" descr="/Users/gigi/hedgefund-analysis/reports/events_per_year.png">    </p:cNvPr>
          <p:cNvPicPr>
            <a:picLocks noChangeAspect="1"/>
          </p:cNvPicPr>
          <p:nvPr/>
        </p:nvPicPr>
        <p:blipFill>
          <a:blip r:embed="rId1"/>
          <a:stretch>
            <a:fillRect/>
          </a:stretch>
        </p:blipFill>
        <p:spPr>
          <a:xfrm>
            <a:off x="457200" y="1554480"/>
            <a:ext cx="5394960" cy="2999232"/>
          </a:xfrm>
          <a:prstGeom prst="rect">
            <a:avLst/>
          </a:prstGeom>
        </p:spPr>
      </p:pic>
      <p:sp>
        <p:nvSpPr>
          <p:cNvPr id="6" name="Text 3"/>
          <p:cNvSpPr/>
          <p:nvPr/>
        </p:nvSpPr>
        <p:spPr>
          <a:xfrm>
            <a:off x="6126480" y="1554480"/>
            <a:ext cx="5486400" cy="27432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Why only small companies?</a:t>
            </a:r>
            <a:endParaRPr lang="en-US" sz="1400" dirty="0"/>
          </a:p>
        </p:txBody>
      </p:sp>
      <p:sp>
        <p:nvSpPr>
          <p:cNvPr id="7" name="Text 4"/>
          <p:cNvSpPr/>
          <p:nvPr/>
        </p:nvSpPr>
        <p:spPr>
          <a:xfrm>
            <a:off x="6126480" y="1847088"/>
            <a:ext cx="5486400" cy="822960"/>
          </a:xfrm>
          <a:prstGeom prst="rect">
            <a:avLst/>
          </a:prstGeom>
          <a:noFill/>
          <a:ln/>
        </p:spPr>
        <p:txBody>
          <a:bodyPr wrap="square" lIns="0" tIns="0" rIns="0" bIns="0" rtlCol="0" anchor="t"/>
          <a:lstStyle/>
          <a:p>
            <a:pPr indent="0" marL="0">
              <a:buNone/>
            </a:pPr>
            <a:r>
              <a:rPr lang="en-US" sz="1250" dirty="0">
                <a:solidFill>
                  <a:srgbClr val="27313F"/>
                </a:solidFill>
                <a:latin typeface="Calibri" pitchFamily="34" charset="0"/>
                <a:ea typeface="Calibri" pitchFamily="34" charset="-122"/>
                <a:cs typeface="Calibri" pitchFamily="34" charset="-120"/>
              </a:rPr>
              <a:t>A big drugmaker has 20 drugs, so one trial barely moves its stock. A small biotech IS its one drug - so the price reaction is huge and tradeable. We only trade small-caps.</a:t>
            </a:r>
            <a:endParaRPr lang="en-US" sz="1250" dirty="0"/>
          </a:p>
        </p:txBody>
      </p:sp>
      <p:sp>
        <p:nvSpPr>
          <p:cNvPr id="8" name="Text 5"/>
          <p:cNvSpPr/>
          <p:nvPr/>
        </p:nvSpPr>
        <p:spPr>
          <a:xfrm>
            <a:off x="6126480" y="2743200"/>
            <a:ext cx="5486400" cy="27432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We assume:</a:t>
            </a:r>
            <a:endParaRPr lang="en-US" sz="1400" dirty="0"/>
          </a:p>
        </p:txBody>
      </p:sp>
      <p:sp>
        <p:nvSpPr>
          <p:cNvPr id="9" name="Text 6"/>
          <p:cNvSpPr/>
          <p:nvPr/>
        </p:nvSpPr>
        <p:spPr>
          <a:xfrm>
            <a:off x="6126480" y="3035808"/>
            <a:ext cx="5486400" cy="1097280"/>
          </a:xfrm>
          <a:prstGeom prst="rect">
            <a:avLst/>
          </a:prstGeom>
          <a:noFill/>
          <a:ln/>
        </p:spPr>
        <p:txBody>
          <a:bodyPr wrap="square" lIns="0" tIns="0" rIns="0" bIns="0" rtlCol="0" anchor="t"/>
          <a:lstStyle/>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  Start with $10M (a test size).
</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  Put ~$500k (5%) in each name -&gt; about 30 held at once.
</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  Trading + borrow costs (borrow fee has no public data, so we test a wide range).
</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  A model of some accuracy - we don't have it yet, so we test 100% / 90% / 80%.</a:t>
            </a:r>
            <a:endParaRPr lang="en-US" sz="1250" dirty="0"/>
          </a:p>
        </p:txBody>
      </p:sp>
      <p:sp>
        <p:nvSpPr>
          <p:cNvPr id="10" name="Shape 7"/>
          <p:cNvSpPr/>
          <p:nvPr/>
        </p:nvSpPr>
        <p:spPr>
          <a:xfrm>
            <a:off x="6126480" y="4343400"/>
            <a:ext cx="5486400" cy="1600200"/>
          </a:xfrm>
          <a:prstGeom prst="roundRect">
            <a:avLst>
              <a:gd name="adj" fmla="val 5143"/>
            </a:avLst>
          </a:prstGeom>
          <a:solidFill>
            <a:srgbClr val="FBF7EE"/>
          </a:solidFill>
          <a:ln w="15240">
            <a:solidFill>
              <a:srgbClr val="E0A458"/>
            </a:solidFill>
            <a:prstDash val="solid"/>
          </a:ln>
        </p:spPr>
      </p:sp>
      <p:sp>
        <p:nvSpPr>
          <p:cNvPr id="11" name="Text 8"/>
          <p:cNvSpPr/>
          <p:nvPr/>
        </p:nvSpPr>
        <p:spPr>
          <a:xfrm>
            <a:off x="6309360" y="4434840"/>
            <a:ext cx="5120640" cy="274320"/>
          </a:xfrm>
          <a:prstGeom prst="rect">
            <a:avLst/>
          </a:prstGeom>
          <a:noFill/>
          <a:ln/>
        </p:spPr>
        <p:txBody>
          <a:bodyPr wrap="square" lIns="0" tIns="0" rIns="0" bIns="0" rtlCol="0" anchor="ctr"/>
          <a:lstStyle/>
          <a:p>
            <a:pPr indent="0" marL="0">
              <a:buNone/>
            </a:pPr>
            <a:r>
              <a:rPr lang="en-US" sz="1350" b="1" dirty="0">
                <a:solidFill>
                  <a:srgbClr val="9A6A12"/>
                </a:solidFill>
                <a:latin typeface="Cambria" pitchFamily="34" charset="0"/>
                <a:ea typeface="Cambria" pitchFamily="34" charset="-122"/>
                <a:cs typeface="Cambria" pitchFamily="34" charset="-120"/>
              </a:rPr>
              <a:t>The honesty adjustment (important)</a:t>
            </a:r>
            <a:endParaRPr lang="en-US" sz="1350" dirty="0"/>
          </a:p>
        </p:txBody>
      </p:sp>
      <p:sp>
        <p:nvSpPr>
          <p:cNvPr id="12" name="Text 9"/>
          <p:cNvSpPr/>
          <p:nvPr/>
        </p:nvSpPr>
        <p:spPr>
          <a:xfrm>
            <a:off x="6309360" y="4754880"/>
            <a:ext cx="5166360" cy="1143000"/>
          </a:xfrm>
          <a:prstGeom prst="rect">
            <a:avLst/>
          </a:prstGeom>
          <a:noFill/>
          <a:ln/>
        </p:spPr>
        <p:txBody>
          <a:bodyPr wrap="square" lIns="0" tIns="0" rIns="0" bIns="0" rtlCol="0" anchor="t"/>
          <a:lstStyle/>
          <a:p>
            <a:pPr indent="0" marL="0">
              <a:lnSpc>
                <a:spcPct val="112000"/>
              </a:lnSpc>
              <a:buNone/>
            </a:pPr>
            <a:r>
              <a:rPr lang="en-US" sz="1200" dirty="0">
                <a:solidFill>
                  <a:srgbClr val="27313F"/>
                </a:solidFill>
                <a:latin typeface="Calibri" pitchFamily="34" charset="0"/>
                <a:ea typeface="Calibri" pitchFamily="34" charset="-122"/>
                <a:cs typeface="Calibri" pitchFamily="34" charset="-120"/>
              </a:rPr>
              <a:t>Our data is 68% winners - flattering (datasets over-capture notable, positive events). The real success rates for the readouts we trade are ~32% / 58% / 87% for Phase 2 / 3 / FDA. Blended by our mix = </a:t>
            </a:r>
            <a:pPr indent="0" marL="0">
              <a:lnSpc>
                <a:spcPct val="112000"/>
              </a:lnSpc>
              <a:buNone/>
            </a:pPr>
            <a:r>
              <a:rPr lang="en-US" sz="1200" b="1" dirty="0">
                <a:solidFill>
                  <a:srgbClr val="9A6A12"/>
                </a:solidFill>
                <a:latin typeface="Calibri" pitchFamily="34" charset="0"/>
                <a:ea typeface="Calibri" pitchFamily="34" charset="-122"/>
                <a:cs typeface="Calibri" pitchFamily="34" charset="-120"/>
              </a:rPr>
              <a:t>~56%. We re-run everything at 56% too.</a:t>
            </a:r>
            <a:endParaRPr lang="en-US" sz="1200" dirty="0"/>
          </a:p>
        </p:txBody>
      </p:sp>
      <p:sp>
        <p:nvSpPr>
          <p:cNvPr id="13" name="Text 10"/>
          <p:cNvSpPr/>
          <p:nvPr/>
        </p:nvSpPr>
        <p:spPr>
          <a:xfrm>
            <a:off x="548640" y="6419088"/>
            <a:ext cx="10607040" cy="274320"/>
          </a:xfrm>
          <a:prstGeom prst="rect">
            <a:avLst/>
          </a:prstGeom>
          <a:noFill/>
          <a:ln/>
        </p:spPr>
        <p:txBody>
          <a:bodyPr wrap="square" rtlCol="0" anchor="ctr"/>
          <a:lstStyle/>
          <a:p>
            <a:pPr indent="0" marL="0">
              <a:buNone/>
            </a:pPr>
            <a:r>
              <a:rPr lang="en-US" sz="850" i="1" dirty="0">
                <a:solidFill>
                  <a:srgbClr val="8A919B"/>
                </a:solidFill>
                <a:latin typeface="Calibri" pitchFamily="34" charset="0"/>
                <a:ea typeface="Calibri" pitchFamily="34" charset="-122"/>
                <a:cs typeface="Calibri" pitchFamily="34" charset="-120"/>
              </a:rPr>
              <a:t>Source: Phase success rates: Wong, Siah &amp; Lo 2019; BIO/Informa 2021 (Phase 2 ~28-35%, Phase 3 ~55-60%, regulatory ~85-90%).</a:t>
            </a:r>
            <a:endParaRPr lang="en-US" sz="850" dirty="0"/>
          </a:p>
        </p:txBody>
      </p:sp>
      <p:sp>
        <p:nvSpPr>
          <p:cNvPr id="14" name="Text 11"/>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The finding - where the money actually is</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Approvals are mostly priced in early; the big move is on failure. We go long + hedge.</a:t>
            </a:r>
            <a:endParaRPr lang="en-US" sz="1250" dirty="0"/>
          </a:p>
        </p:txBody>
      </p:sp>
      <p:pic>
        <p:nvPicPr>
          <p:cNvPr id="5" name="Image 0" descr="/Users/gigi/hedgefund-analysis/reports/caar_path.png">    </p:cNvPr>
          <p:cNvPicPr>
            <a:picLocks noChangeAspect="1"/>
          </p:cNvPicPr>
          <p:nvPr/>
        </p:nvPicPr>
        <p:blipFill>
          <a:blip r:embed="rId1"/>
          <a:stretch>
            <a:fillRect/>
          </a:stretch>
        </p:blipFill>
        <p:spPr>
          <a:xfrm>
            <a:off x="457200" y="1600200"/>
            <a:ext cx="6309360" cy="3127248"/>
          </a:xfrm>
          <a:prstGeom prst="rect">
            <a:avLst/>
          </a:prstGeom>
        </p:spPr>
      </p:pic>
      <p:sp>
        <p:nvSpPr>
          <p:cNvPr id="6" name="Text 3"/>
          <p:cNvSpPr/>
          <p:nvPr/>
        </p:nvSpPr>
        <p:spPr>
          <a:xfrm>
            <a:off x="7040880" y="1691640"/>
            <a:ext cx="46634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Approvals are mostly priced in</a:t>
            </a:r>
            <a:endParaRPr lang="en-US" sz="1450" dirty="0"/>
          </a:p>
        </p:txBody>
      </p:sp>
      <p:sp>
        <p:nvSpPr>
          <p:cNvPr id="7" name="Text 4"/>
          <p:cNvSpPr/>
          <p:nvPr/>
        </p:nvSpPr>
        <p:spPr>
          <a:xfrm>
            <a:off x="7040880" y="2057400"/>
            <a:ext cx="4663440" cy="566928"/>
          </a:xfrm>
          <a:prstGeom prst="rect">
            <a:avLst/>
          </a:prstGeom>
          <a:noFill/>
          <a:ln/>
        </p:spPr>
        <p:txBody>
          <a:bodyPr wrap="square" lIns="0" tIns="0" rIns="0" bIns="0" rtlCol="0" anchor="t"/>
          <a:lstStyle/>
          <a:p>
            <a:pPr indent="0" marL="0">
              <a:buNone/>
            </a:pPr>
            <a:r>
              <a:rPr lang="en-US" sz="1200" dirty="0">
                <a:solidFill>
                  <a:srgbClr val="27313F"/>
                </a:solidFill>
                <a:latin typeface="Calibri" pitchFamily="34" charset="0"/>
                <a:ea typeface="Calibri" pitchFamily="34" charset="-122"/>
                <a:cs typeface="Calibri" pitchFamily="34" charset="-120"/>
              </a:rPr>
              <a:t>winners drift up only ~+4% over our hold (median) - the market front-runs the good news</a:t>
            </a:r>
            <a:endParaRPr lang="en-US" sz="1200" dirty="0"/>
          </a:p>
        </p:txBody>
      </p:sp>
      <p:sp>
        <p:nvSpPr>
          <p:cNvPr id="8" name="Text 5"/>
          <p:cNvSpPr/>
          <p:nvPr/>
        </p:nvSpPr>
        <p:spPr>
          <a:xfrm>
            <a:off x="7040880" y="2624328"/>
            <a:ext cx="46634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Failures crash hard</a:t>
            </a:r>
            <a:endParaRPr lang="en-US" sz="1450" dirty="0"/>
          </a:p>
        </p:txBody>
      </p:sp>
      <p:sp>
        <p:nvSpPr>
          <p:cNvPr id="9" name="Text 6"/>
          <p:cNvSpPr/>
          <p:nvPr/>
        </p:nvSpPr>
        <p:spPr>
          <a:xfrm>
            <a:off x="7040880" y="2990088"/>
            <a:ext cx="4663440" cy="566928"/>
          </a:xfrm>
          <a:prstGeom prst="rect">
            <a:avLst/>
          </a:prstGeom>
          <a:noFill/>
          <a:ln/>
        </p:spPr>
        <p:txBody>
          <a:bodyPr wrap="square" lIns="0" tIns="0" rIns="0" bIns="0" rtlCol="0" anchor="t"/>
          <a:lstStyle/>
          <a:p>
            <a:pPr indent="0" marL="0">
              <a:buNone/>
            </a:pPr>
            <a:r>
              <a:rPr lang="en-US" sz="1200" dirty="0">
                <a:solidFill>
                  <a:srgbClr val="27313F"/>
                </a:solidFill>
                <a:latin typeface="Calibri" pitchFamily="34" charset="0"/>
                <a:ea typeface="Calibri" pitchFamily="34" charset="-122"/>
                <a:cs typeface="Calibri" pitchFamily="34" charset="-120"/>
              </a:rPr>
              <a:t>a small-cap that misses drops ~-14% to -17% in a day - that's the real, sharp move</a:t>
            </a:r>
            <a:endParaRPr lang="en-US" sz="1200" dirty="0"/>
          </a:p>
        </p:txBody>
      </p:sp>
      <p:sp>
        <p:nvSpPr>
          <p:cNvPr id="10" name="Text 7"/>
          <p:cNvSpPr/>
          <p:nvPr/>
        </p:nvSpPr>
        <p:spPr>
          <a:xfrm>
            <a:off x="7040880" y="3557016"/>
            <a:ext cx="46634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Only in small-caps</a:t>
            </a:r>
            <a:endParaRPr lang="en-US" sz="1450" dirty="0"/>
          </a:p>
        </p:txBody>
      </p:sp>
      <p:sp>
        <p:nvSpPr>
          <p:cNvPr id="11" name="Text 8"/>
          <p:cNvSpPr/>
          <p:nvPr/>
        </p:nvSpPr>
        <p:spPr>
          <a:xfrm>
            <a:off x="7040880" y="3922776"/>
            <a:ext cx="4663440" cy="566928"/>
          </a:xfrm>
          <a:prstGeom prst="rect">
            <a:avLst/>
          </a:prstGeom>
          <a:noFill/>
          <a:ln/>
        </p:spPr>
        <p:txBody>
          <a:bodyPr wrap="square" lIns="0" tIns="0" rIns="0" bIns="0" rtlCol="0" anchor="t"/>
          <a:lstStyle/>
          <a:p>
            <a:pPr indent="0" marL="0">
              <a:buNone/>
            </a:pPr>
            <a:r>
              <a:rPr lang="en-US" sz="1200" dirty="0">
                <a:solidFill>
                  <a:srgbClr val="27313F"/>
                </a:solidFill>
                <a:latin typeface="Calibri" pitchFamily="34" charset="0"/>
                <a:ea typeface="Calibri" pitchFamily="34" charset="-122"/>
                <a:cs typeface="Calibri" pitchFamily="34" charset="-120"/>
              </a:rPr>
              <a:t>a big-pharma readout barely moves the stock; a small-cap's whole value is one drug</a:t>
            </a:r>
            <a:endParaRPr lang="en-US" sz="1200" dirty="0"/>
          </a:p>
        </p:txBody>
      </p:sp>
      <p:sp>
        <p:nvSpPr>
          <p:cNvPr id="12" name="Text 9"/>
          <p:cNvSpPr/>
          <p:nvPr/>
        </p:nvSpPr>
        <p:spPr>
          <a:xfrm>
            <a:off x="7040880" y="4489704"/>
            <a:ext cx="4663440" cy="365760"/>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Success != stock up</a:t>
            </a:r>
            <a:endParaRPr lang="en-US" sz="1450" dirty="0"/>
          </a:p>
        </p:txBody>
      </p:sp>
      <p:sp>
        <p:nvSpPr>
          <p:cNvPr id="13" name="Text 10"/>
          <p:cNvSpPr/>
          <p:nvPr/>
        </p:nvSpPr>
        <p:spPr>
          <a:xfrm>
            <a:off x="7040880" y="4855464"/>
            <a:ext cx="4663440" cy="566928"/>
          </a:xfrm>
          <a:prstGeom prst="rect">
            <a:avLst/>
          </a:prstGeom>
          <a:noFill/>
          <a:ln/>
        </p:spPr>
        <p:txBody>
          <a:bodyPr wrap="square" lIns="0" tIns="0" rIns="0" bIns="0" rtlCol="0" anchor="t"/>
          <a:lstStyle/>
          <a:p>
            <a:pPr indent="0" marL="0">
              <a:buNone/>
            </a:pPr>
            <a:r>
              <a:rPr lang="en-US" sz="1200" dirty="0">
                <a:solidFill>
                  <a:srgbClr val="27313F"/>
                </a:solidFill>
                <a:latin typeface="Calibri" pitchFamily="34" charset="0"/>
                <a:ea typeface="Calibri" pitchFamily="34" charset="-122"/>
                <a:cs typeface="Calibri" pitchFamily="34" charset="-120"/>
              </a:rPr>
              <a:t>even a real winner can drift down over 3 months - which is why we hedge and lend</a:t>
            </a:r>
            <a:endParaRPr lang="en-US" sz="1200" dirty="0"/>
          </a:p>
        </p:txBody>
      </p:sp>
      <p:sp>
        <p:nvSpPr>
          <p:cNvPr id="14" name="Text 11"/>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The strategy - what we run, and what we cut</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We'll cover the deployed strategy (long + lend) first, then why we tested and dropped shorting.</a:t>
            </a:r>
            <a:endParaRPr lang="en-US" sz="1250" dirty="0"/>
          </a:p>
        </p:txBody>
      </p:sp>
      <p:sp>
        <p:nvSpPr>
          <p:cNvPr id="5" name="Shape 3"/>
          <p:cNvSpPr/>
          <p:nvPr/>
        </p:nvSpPr>
        <p:spPr>
          <a:xfrm>
            <a:off x="548640" y="1645920"/>
            <a:ext cx="3429000" cy="3657600"/>
          </a:xfrm>
          <a:prstGeom prst="roundRect">
            <a:avLst>
              <a:gd name="adj" fmla="val 2400"/>
            </a:avLst>
          </a:prstGeom>
          <a:solidFill>
            <a:srgbClr val="F7F8FC"/>
          </a:solidFill>
          <a:ln w="12700">
            <a:solidFill>
              <a:srgbClr val="E4E6EE"/>
            </a:solidFill>
            <a:prstDash val="solid"/>
          </a:ln>
        </p:spPr>
      </p:sp>
      <p:sp>
        <p:nvSpPr>
          <p:cNvPr id="6" name="Shape 4"/>
          <p:cNvSpPr/>
          <p:nvPr/>
        </p:nvSpPr>
        <p:spPr>
          <a:xfrm>
            <a:off x="868680" y="1965960"/>
            <a:ext cx="502920" cy="502920"/>
          </a:xfrm>
          <a:prstGeom prst="roundRect">
            <a:avLst>
              <a:gd name="adj" fmla="val 50909"/>
            </a:avLst>
          </a:prstGeom>
          <a:solidFill>
            <a:srgbClr val="02C39A"/>
          </a:solidFill>
          <a:ln w="12700">
            <a:solidFill>
              <a:srgbClr val="02C39A"/>
            </a:solidFill>
            <a:prstDash val="solid"/>
          </a:ln>
        </p:spPr>
      </p:sp>
      <p:sp>
        <p:nvSpPr>
          <p:cNvPr id="7" name="Text 5"/>
          <p:cNvSpPr/>
          <p:nvPr/>
        </p:nvSpPr>
        <p:spPr>
          <a:xfrm>
            <a:off x="86868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508760" y="1984248"/>
            <a:ext cx="2286000" cy="50292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Long + lend</a:t>
            </a:r>
            <a:endParaRPr lang="en-US" sz="1700" dirty="0"/>
          </a:p>
        </p:txBody>
      </p:sp>
      <p:sp>
        <p:nvSpPr>
          <p:cNvPr id="9" name="Text 7"/>
          <p:cNvSpPr/>
          <p:nvPr/>
        </p:nvSpPr>
        <p:spPr>
          <a:xfrm>
            <a:off x="868680" y="2651760"/>
            <a:ext cx="2834640" cy="320040"/>
          </a:xfrm>
          <a:prstGeom prst="rect">
            <a:avLst/>
          </a:prstGeom>
          <a:noFill/>
          <a:ln/>
        </p:spPr>
        <p:txBody>
          <a:bodyPr wrap="square" lIns="0" tIns="0" rIns="0" bIns="0" rtlCol="0" anchor="ctr"/>
          <a:lstStyle/>
          <a:p>
            <a:pPr indent="0" marL="0">
              <a:buNone/>
            </a:pPr>
            <a:r>
              <a:rPr lang="en-US" sz="1100" b="1" spc="100" kern="0" dirty="0">
                <a:solidFill>
                  <a:srgbClr val="02C39A"/>
                </a:solidFill>
                <a:latin typeface="Calibri" pitchFamily="34" charset="0"/>
                <a:ea typeface="Calibri" pitchFamily="34" charset="-122"/>
                <a:cs typeface="Calibri" pitchFamily="34" charset="-120"/>
              </a:rPr>
              <a:t>DEPLOYED - the engine</a:t>
            </a:r>
            <a:endParaRPr lang="en-US" sz="1100" dirty="0"/>
          </a:p>
        </p:txBody>
      </p:sp>
      <p:sp>
        <p:nvSpPr>
          <p:cNvPr id="10" name="Text 8"/>
          <p:cNvSpPr/>
          <p:nvPr/>
        </p:nvSpPr>
        <p:spPr>
          <a:xfrm>
            <a:off x="868680" y="3063240"/>
            <a:ext cx="2834640" cy="2103120"/>
          </a:xfrm>
          <a:prstGeom prst="rect">
            <a:avLst/>
          </a:prstGeom>
          <a:noFill/>
          <a:ln/>
        </p:spPr>
        <p:txBody>
          <a:bodyPr wrap="square" lIns="0" tIns="0" rIns="0" bIns="0" rtlCol="0" anchor="t"/>
          <a:lstStyle/>
          <a:p>
            <a:pPr indent="0" marL="0">
              <a:lnSpc>
                <a:spcPct val="118000"/>
              </a:lnSpc>
              <a:buNone/>
            </a:pPr>
            <a:r>
              <a:rPr lang="en-US" sz="1250" dirty="0">
                <a:solidFill>
                  <a:srgbClr val="27313F"/>
                </a:solidFill>
                <a:latin typeface="Calibri" pitchFamily="34" charset="0"/>
                <a:ea typeface="Calibri" pitchFamily="34" charset="-122"/>
                <a:cs typeface="Calibri" pitchFamily="34" charset="-120"/>
              </a:rPr>
              <a:t>Buy the predicted winners ~1 month out, hold ~3 months, and rent the shares to the crowd shorting them. This is where the money is.</a:t>
            </a:r>
            <a:endParaRPr lang="en-US" sz="1250" dirty="0"/>
          </a:p>
        </p:txBody>
      </p:sp>
      <p:sp>
        <p:nvSpPr>
          <p:cNvPr id="11" name="Shape 9"/>
          <p:cNvSpPr/>
          <p:nvPr/>
        </p:nvSpPr>
        <p:spPr>
          <a:xfrm>
            <a:off x="4251960" y="1645920"/>
            <a:ext cx="3429000" cy="3657600"/>
          </a:xfrm>
          <a:prstGeom prst="roundRect">
            <a:avLst>
              <a:gd name="adj" fmla="val 2400"/>
            </a:avLst>
          </a:prstGeom>
          <a:solidFill>
            <a:srgbClr val="F7F8FC"/>
          </a:solidFill>
          <a:ln w="12700">
            <a:solidFill>
              <a:srgbClr val="E4E6EE"/>
            </a:solidFill>
            <a:prstDash val="solid"/>
          </a:ln>
        </p:spPr>
      </p:sp>
      <p:sp>
        <p:nvSpPr>
          <p:cNvPr id="12" name="Shape 10"/>
          <p:cNvSpPr/>
          <p:nvPr/>
        </p:nvSpPr>
        <p:spPr>
          <a:xfrm>
            <a:off x="4572000" y="1965960"/>
            <a:ext cx="502920" cy="502920"/>
          </a:xfrm>
          <a:prstGeom prst="roundRect">
            <a:avLst>
              <a:gd name="adj" fmla="val 50909"/>
            </a:avLst>
          </a:prstGeom>
          <a:solidFill>
            <a:srgbClr val="C0392F"/>
          </a:solidFill>
          <a:ln w="12700">
            <a:solidFill>
              <a:srgbClr val="C0392F"/>
            </a:solidFill>
            <a:prstDash val="solid"/>
          </a:ln>
        </p:spPr>
      </p:sp>
      <p:sp>
        <p:nvSpPr>
          <p:cNvPr id="13" name="Text 11"/>
          <p:cNvSpPr/>
          <p:nvPr/>
        </p:nvSpPr>
        <p:spPr>
          <a:xfrm>
            <a:off x="457200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5212080" y="1984248"/>
            <a:ext cx="2286000" cy="50292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Short the failures</a:t>
            </a:r>
            <a:endParaRPr lang="en-US" sz="1700" dirty="0"/>
          </a:p>
        </p:txBody>
      </p:sp>
      <p:sp>
        <p:nvSpPr>
          <p:cNvPr id="15" name="Text 13"/>
          <p:cNvSpPr/>
          <p:nvPr/>
        </p:nvSpPr>
        <p:spPr>
          <a:xfrm>
            <a:off x="4572000" y="2651760"/>
            <a:ext cx="2834640" cy="320040"/>
          </a:xfrm>
          <a:prstGeom prst="rect">
            <a:avLst/>
          </a:prstGeom>
          <a:noFill/>
          <a:ln/>
        </p:spPr>
        <p:txBody>
          <a:bodyPr wrap="square" lIns="0" tIns="0" rIns="0" bIns="0" rtlCol="0" anchor="ctr"/>
          <a:lstStyle/>
          <a:p>
            <a:pPr indent="0" marL="0">
              <a:buNone/>
            </a:pPr>
            <a:r>
              <a:rPr lang="en-US" sz="1100" b="1" spc="100" kern="0" dirty="0">
                <a:solidFill>
                  <a:srgbClr val="C0392F"/>
                </a:solidFill>
                <a:latin typeface="Calibri" pitchFamily="34" charset="0"/>
                <a:ea typeface="Calibri" pitchFamily="34" charset="-122"/>
                <a:cs typeface="Calibri" pitchFamily="34" charset="-120"/>
              </a:rPr>
              <a:t>TESTED &amp; DROPPED</a:t>
            </a:r>
            <a:endParaRPr lang="en-US" sz="1100" dirty="0"/>
          </a:p>
        </p:txBody>
      </p:sp>
      <p:sp>
        <p:nvSpPr>
          <p:cNvPr id="16" name="Text 14"/>
          <p:cNvSpPr/>
          <p:nvPr/>
        </p:nvSpPr>
        <p:spPr>
          <a:xfrm>
            <a:off x="4572000" y="3063240"/>
            <a:ext cx="2834640" cy="2103120"/>
          </a:xfrm>
          <a:prstGeom prst="rect">
            <a:avLst/>
          </a:prstGeom>
          <a:noFill/>
          <a:ln/>
        </p:spPr>
        <p:txBody>
          <a:bodyPr wrap="square" lIns="0" tIns="0" rIns="0" bIns="0" rtlCol="0" anchor="t"/>
          <a:lstStyle/>
          <a:p>
            <a:pPr indent="0" marL="0">
              <a:lnSpc>
                <a:spcPct val="118000"/>
              </a:lnSpc>
              <a:buNone/>
            </a:pPr>
            <a:r>
              <a:rPr lang="en-US" sz="1250" dirty="0">
                <a:solidFill>
                  <a:srgbClr val="27313F"/>
                </a:solidFill>
                <a:latin typeface="Calibri" pitchFamily="34" charset="0"/>
                <a:ea typeface="Calibri" pitchFamily="34" charset="-122"/>
                <a:cs typeface="Calibri" pitchFamily="34" charset="-120"/>
              </a:rPr>
              <a:t>We tried shorting the losers too. But the biggest-drop names are impossible to borrow, so after honest limits it loses money except in the best regime - cut. (Next slide: the proof.)</a:t>
            </a:r>
            <a:endParaRPr lang="en-US" sz="1250" dirty="0"/>
          </a:p>
        </p:txBody>
      </p:sp>
      <p:sp>
        <p:nvSpPr>
          <p:cNvPr id="17" name="Shape 15"/>
          <p:cNvSpPr/>
          <p:nvPr/>
        </p:nvSpPr>
        <p:spPr>
          <a:xfrm>
            <a:off x="7955280" y="1645920"/>
            <a:ext cx="3429000" cy="3657600"/>
          </a:xfrm>
          <a:prstGeom prst="roundRect">
            <a:avLst>
              <a:gd name="adj" fmla="val 2400"/>
            </a:avLst>
          </a:prstGeom>
          <a:solidFill>
            <a:srgbClr val="F7F8FC"/>
          </a:solidFill>
          <a:ln w="12700">
            <a:solidFill>
              <a:srgbClr val="E4E6EE"/>
            </a:solidFill>
            <a:prstDash val="solid"/>
          </a:ln>
        </p:spPr>
      </p:sp>
      <p:sp>
        <p:nvSpPr>
          <p:cNvPr id="18" name="Shape 16"/>
          <p:cNvSpPr/>
          <p:nvPr/>
        </p:nvSpPr>
        <p:spPr>
          <a:xfrm>
            <a:off x="8275320" y="1965960"/>
            <a:ext cx="502920" cy="502920"/>
          </a:xfrm>
          <a:prstGeom prst="roundRect">
            <a:avLst>
              <a:gd name="adj" fmla="val 50909"/>
            </a:avLst>
          </a:prstGeom>
          <a:solidFill>
            <a:srgbClr val="1E2761"/>
          </a:solidFill>
          <a:ln w="12700">
            <a:solidFill>
              <a:srgbClr val="1E2761"/>
            </a:solidFill>
            <a:prstDash val="solid"/>
          </a:ln>
        </p:spPr>
      </p:sp>
      <p:sp>
        <p:nvSpPr>
          <p:cNvPr id="19" name="Text 17"/>
          <p:cNvSpPr/>
          <p:nvPr/>
        </p:nvSpPr>
        <p:spPr>
          <a:xfrm>
            <a:off x="827532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8915400" y="1984248"/>
            <a:ext cx="2286000" cy="50292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Hedge with XBI</a:t>
            </a:r>
            <a:endParaRPr lang="en-US" sz="1700" dirty="0"/>
          </a:p>
        </p:txBody>
      </p:sp>
      <p:sp>
        <p:nvSpPr>
          <p:cNvPr id="21" name="Text 19"/>
          <p:cNvSpPr/>
          <p:nvPr/>
        </p:nvSpPr>
        <p:spPr>
          <a:xfrm>
            <a:off x="8275320" y="2651760"/>
            <a:ext cx="2834640" cy="320040"/>
          </a:xfrm>
          <a:prstGeom prst="rect">
            <a:avLst/>
          </a:prstGeom>
          <a:noFill/>
          <a:ln/>
        </p:spPr>
        <p:txBody>
          <a:bodyPr wrap="square" lIns="0" tIns="0" rIns="0" bIns="0" rtlCol="0" anchor="ctr"/>
          <a:lstStyle/>
          <a:p>
            <a:pPr indent="0" marL="0">
              <a:buNone/>
            </a:pPr>
            <a:r>
              <a:rPr lang="en-US" sz="1100" b="1" spc="100" kern="0" dirty="0">
                <a:solidFill>
                  <a:srgbClr val="1E2761"/>
                </a:solidFill>
                <a:latin typeface="Calibri" pitchFamily="34" charset="0"/>
                <a:ea typeface="Calibri" pitchFamily="34" charset="-122"/>
                <a:cs typeface="Calibri" pitchFamily="34" charset="-120"/>
              </a:rPr>
              <a:t>OPTIONAL - insurance</a:t>
            </a:r>
            <a:endParaRPr lang="en-US" sz="1100" dirty="0"/>
          </a:p>
        </p:txBody>
      </p:sp>
      <p:sp>
        <p:nvSpPr>
          <p:cNvPr id="22" name="Text 20"/>
          <p:cNvSpPr/>
          <p:nvPr/>
        </p:nvSpPr>
        <p:spPr>
          <a:xfrm>
            <a:off x="8275320" y="3063240"/>
            <a:ext cx="2834640" cy="2103120"/>
          </a:xfrm>
          <a:prstGeom prst="rect">
            <a:avLst/>
          </a:prstGeom>
          <a:noFill/>
          <a:ln/>
        </p:spPr>
        <p:txBody>
          <a:bodyPr wrap="square" lIns="0" tIns="0" rIns="0" bIns="0" rtlCol="0" anchor="t"/>
          <a:lstStyle/>
          <a:p>
            <a:pPr indent="0" marL="0">
              <a:lnSpc>
                <a:spcPct val="118000"/>
              </a:lnSpc>
              <a:buNone/>
            </a:pPr>
            <a:r>
              <a:rPr lang="en-US" sz="1250" dirty="0">
                <a:solidFill>
                  <a:srgbClr val="27313F"/>
                </a:solidFill>
                <a:latin typeface="Calibri" pitchFamily="34" charset="0"/>
                <a:ea typeface="Calibri" pitchFamily="34" charset="-122"/>
                <a:cs typeface="Calibri" pitchFamily="34" charset="-120"/>
              </a:rPr>
              <a:t>Short the biotech ETF to cancel sector-wide moves (hedge against a broad biotech selloff). Costs a little; it's crash insurance, not profit.</a:t>
            </a:r>
            <a:endParaRPr lang="en-US" sz="1250" dirty="0"/>
          </a:p>
        </p:txBody>
      </p:sp>
      <p:sp>
        <p:nvSpPr>
          <p:cNvPr id="23" name="Text 21"/>
          <p:cNvSpPr/>
          <p:nvPr/>
        </p:nvSpPr>
        <p:spPr>
          <a:xfrm>
            <a:off x="548640" y="5440680"/>
            <a:ext cx="11064240" cy="457200"/>
          </a:xfrm>
          <a:prstGeom prst="rect">
            <a:avLst/>
          </a:prstGeom>
          <a:noFill/>
          <a:ln/>
        </p:spPr>
        <p:txBody>
          <a:bodyPr wrap="square" rtlCol="0" anchor="t"/>
          <a:lstStyle/>
          <a:p>
            <a:pPr indent="0" marL="0">
              <a:buNone/>
            </a:pPr>
            <a:r>
              <a:rPr lang="en-US" sz="1400" b="1" dirty="0">
                <a:solidFill>
                  <a:srgbClr val="1E2761"/>
                </a:solidFill>
                <a:latin typeface="Calibri" pitchFamily="34" charset="0"/>
                <a:ea typeface="Calibri" pitchFamily="34" charset="-122"/>
                <a:cs typeface="Calibri" pitchFamily="34" charset="-120"/>
              </a:rPr>
              <a:t>Money comes from the stock re-rating + the lending fee. </a:t>
            </a:r>
            <a:pPr indent="0" marL="0">
              <a:buNone/>
            </a:pPr>
            <a:r>
              <a:rPr lang="en-US" sz="1400" dirty="0">
                <a:solidFill>
                  <a:srgbClr val="5B636E"/>
                </a:solidFill>
                <a:latin typeface="Calibri" pitchFamily="34" charset="0"/>
                <a:ea typeface="Calibri" pitchFamily="34" charset="-122"/>
                <a:cs typeface="Calibri" pitchFamily="34" charset="-120"/>
              </a:rPr>
              <a:t>Short and hedge are risk controls, not return drivers.</a:t>
            </a:r>
            <a:endParaRPr lang="en-US" sz="1400" dirty="0"/>
          </a:p>
        </p:txBody>
      </p:sp>
      <p:sp>
        <p:nvSpPr>
          <p:cNvPr id="24" name="Text 22"/>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Why we drop the short leg</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The proof: split every scenario by leg (100% model). Short only pays in the best case.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931920"/>
                <a:gridCol w="1463040"/>
                <a:gridCol w="1463040"/>
                <a:gridCol w="1554480"/>
                <a:gridCol w="1371600"/>
                <a:gridCol w="1280160"/>
              </a:tblGrid>
              <a:tr h="54864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Scenario (cost regime)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Long: price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Long: lend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SHORT net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Frictions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4864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BEAR - cheap borrow, hard to short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+$11.9M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+$0.5M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-$2.2M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-$1.6M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+$8.6M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4864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BASE - realistic</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+$12.0M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+$3.6M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-$0.9M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-$1.0M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+$13.6M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4864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BULL - rich borrow, easy to short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+$11.9M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+$14.7M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+$0.1M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-$0.7M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+$26.0M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6" name="Shape 3"/>
          <p:cNvSpPr/>
          <p:nvPr/>
        </p:nvSpPr>
        <p:spPr>
          <a:xfrm>
            <a:off x="548640" y="3794760"/>
            <a:ext cx="5394960" cy="1417320"/>
          </a:xfrm>
          <a:prstGeom prst="roundRect">
            <a:avLst>
              <a:gd name="adj" fmla="val 5806"/>
            </a:avLst>
          </a:prstGeom>
          <a:solidFill>
            <a:srgbClr val="FBF3F2"/>
          </a:solidFill>
          <a:ln w="12700">
            <a:solidFill>
              <a:srgbClr val="C0392F"/>
            </a:solidFill>
            <a:prstDash val="solid"/>
          </a:ln>
        </p:spPr>
      </p:sp>
      <p:sp>
        <p:nvSpPr>
          <p:cNvPr id="7" name="Text 4"/>
          <p:cNvSpPr/>
          <p:nvPr/>
        </p:nvSpPr>
        <p:spPr>
          <a:xfrm>
            <a:off x="777240" y="3931920"/>
            <a:ext cx="4937760" cy="1188720"/>
          </a:xfrm>
          <a:prstGeom prst="rect">
            <a:avLst/>
          </a:prstGeom>
          <a:noFill/>
          <a:ln/>
        </p:spPr>
        <p:txBody>
          <a:bodyPr wrap="square" lIns="0" tIns="0" rIns="0" bIns="0" rtlCol="0" anchor="ctr"/>
          <a:lstStyle/>
          <a:p>
            <a:pPr indent="0" marL="0">
              <a:lnSpc>
                <a:spcPct val="115000"/>
              </a:lnSpc>
              <a:buNone/>
            </a:pPr>
            <a:r>
              <a:rPr lang="en-US" sz="1250" b="1" dirty="0">
                <a:solidFill>
                  <a:srgbClr val="C0392F"/>
                </a:solidFill>
                <a:latin typeface="Calibri" pitchFamily="34" charset="0"/>
                <a:ea typeface="Calibri" pitchFamily="34" charset="-122"/>
                <a:cs typeface="Calibri" pitchFamily="34" charset="-120"/>
              </a:rPr>
              <a:t>Short loses in BEAR (-$2.2M) and BASE (-$0.9M), </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and only squeaks positive (+$0.1M) in the best regime. Of the failures, only ~60% can even be borrowed - the biggest drops are the hardest to short.</a:t>
            </a:r>
            <a:endParaRPr lang="en-US" sz="1250" dirty="0"/>
          </a:p>
        </p:txBody>
      </p:sp>
      <p:sp>
        <p:nvSpPr>
          <p:cNvPr id="8" name="Shape 5"/>
          <p:cNvSpPr/>
          <p:nvPr/>
        </p:nvSpPr>
        <p:spPr>
          <a:xfrm>
            <a:off x="6172200" y="3794760"/>
            <a:ext cx="5440680" cy="1417320"/>
          </a:xfrm>
          <a:prstGeom prst="roundRect">
            <a:avLst>
              <a:gd name="adj" fmla="val 5806"/>
            </a:avLst>
          </a:prstGeom>
          <a:solidFill>
            <a:srgbClr val="F0FAF6"/>
          </a:solidFill>
          <a:ln w="12700">
            <a:solidFill>
              <a:srgbClr val="02C39A"/>
            </a:solidFill>
            <a:prstDash val="solid"/>
          </a:ln>
        </p:spPr>
      </p:sp>
      <p:sp>
        <p:nvSpPr>
          <p:cNvPr id="9" name="Text 6"/>
          <p:cNvSpPr/>
          <p:nvPr/>
        </p:nvSpPr>
        <p:spPr>
          <a:xfrm>
            <a:off x="6400800" y="3931920"/>
            <a:ext cx="5029200" cy="1188720"/>
          </a:xfrm>
          <a:prstGeom prst="rect">
            <a:avLst/>
          </a:prstGeom>
          <a:noFill/>
          <a:ln/>
        </p:spPr>
        <p:txBody>
          <a:bodyPr wrap="square" lIns="0" tIns="0" rIns="0" bIns="0" rtlCol="0" anchor="ctr"/>
          <a:lstStyle/>
          <a:p>
            <a:pPr indent="0" marL="0">
              <a:lnSpc>
                <a:spcPct val="115000"/>
              </a:lnSpc>
              <a:buNone/>
            </a:pPr>
            <a:r>
              <a:rPr lang="en-US" sz="1250" b="1" dirty="0">
                <a:solidFill>
                  <a:srgbClr val="0A8F6E"/>
                </a:solidFill>
                <a:latin typeface="Calibri" pitchFamily="34" charset="0"/>
                <a:ea typeface="Calibri" pitchFamily="34" charset="-122"/>
                <a:cs typeface="Calibri" pitchFamily="34" charset="-120"/>
              </a:rPr>
              <a:t>Lending is the swing factor. </a:t>
            </a:r>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Long price is steady (~$12M); lending income runs $0.5M -&gt; $3.6M -&gt; $14.7M across regimes. So we keep long+lend, drop the short.</a:t>
            </a:r>
            <a:endParaRPr lang="en-US" sz="1250" dirty="0"/>
          </a:p>
        </p:txBody>
      </p:sp>
      <p:sp>
        <p:nvSpPr>
          <p:cNvPr id="10" name="Text 7"/>
          <p:cNvSpPr/>
          <p:nvPr/>
        </p:nvSpPr>
        <p:spPr>
          <a:xfrm>
            <a:off x="548640" y="5349240"/>
            <a:ext cx="11064240" cy="365760"/>
          </a:xfrm>
          <a:prstGeom prst="rect">
            <a:avLst/>
          </a:prstGeom>
          <a:noFill/>
          <a:ln/>
        </p:spPr>
        <p:txBody>
          <a:bodyPr wrap="square" rtlCol="0" anchor="ctr"/>
          <a:lstStyle/>
          <a:p>
            <a:pPr indent="0" marL="0">
              <a:buNone/>
            </a:pPr>
            <a:r>
              <a:rPr lang="en-US" sz="1100" i="1" dirty="0">
                <a:solidFill>
                  <a:srgbClr val="5B636E"/>
                </a:solidFill>
                <a:latin typeface="Calibri" pitchFamily="34" charset="0"/>
                <a:ea typeface="Calibri" pitchFamily="34" charset="-122"/>
                <a:cs typeface="Calibri" pitchFamily="34" charset="-120"/>
              </a:rPr>
              <a:t>Numbers on the selection-bias-adjusted 56% universe, at a perfect model, so columns differ only by the cost assumptions.</a:t>
            </a:r>
            <a:endParaRPr lang="en-US" sz="1100" dirty="0"/>
          </a:p>
        </p:txBody>
      </p:sp>
      <p:sp>
        <p:nvSpPr>
          <p:cNvPr id="11" name="Text 8"/>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How the lending money is made</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 daily rent that's richest before the catalyst, then fades.</a:t>
            </a:r>
            <a:endParaRPr lang="en-US" sz="1250" dirty="0"/>
          </a:p>
        </p:txBody>
      </p:sp>
      <p:sp>
        <p:nvSpPr>
          <p:cNvPr id="5" name="Text 3"/>
          <p:cNvSpPr/>
          <p:nvPr/>
        </p:nvSpPr>
        <p:spPr>
          <a:xfrm>
            <a:off x="548640" y="160020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Position sizing</a:t>
            </a:r>
            <a:endParaRPr lang="en-US" sz="1450" dirty="0"/>
          </a:p>
        </p:txBody>
      </p:sp>
      <p:sp>
        <p:nvSpPr>
          <p:cNvPr id="6" name="Text 4"/>
          <p:cNvSpPr/>
          <p:nvPr/>
        </p:nvSpPr>
        <p:spPr>
          <a:xfrm>
            <a:off x="548640" y="191109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5% of capital per name, max 10% per company -&gt; ~30 names at once.</a:t>
            </a:r>
            <a:endParaRPr lang="en-US" sz="1300" dirty="0"/>
          </a:p>
        </p:txBody>
      </p:sp>
      <p:sp>
        <p:nvSpPr>
          <p:cNvPr id="7" name="Text 5"/>
          <p:cNvSpPr/>
          <p:nvPr/>
        </p:nvSpPr>
        <p:spPr>
          <a:xfrm>
            <a:off x="548640" y="265176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Timing</a:t>
            </a:r>
            <a:endParaRPr lang="en-US" sz="1450" dirty="0"/>
          </a:p>
        </p:txBody>
      </p:sp>
      <p:sp>
        <p:nvSpPr>
          <p:cNvPr id="8" name="Text 6"/>
          <p:cNvSpPr/>
          <p:nvPr/>
        </p:nvSpPr>
        <p:spPr>
          <a:xfrm>
            <a:off x="548640" y="296265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enter ~1 month before the readout, exit ~3 months after.</a:t>
            </a:r>
            <a:endParaRPr lang="en-US" sz="1300" dirty="0"/>
          </a:p>
        </p:txBody>
      </p:sp>
      <p:sp>
        <p:nvSpPr>
          <p:cNvPr id="9" name="Text 7"/>
          <p:cNvSpPr/>
          <p:nvPr/>
        </p:nvSpPr>
        <p:spPr>
          <a:xfrm>
            <a:off x="548640" y="3703320"/>
            <a:ext cx="5577840" cy="292608"/>
          </a:xfrm>
          <a:prstGeom prst="rect">
            <a:avLst/>
          </a:prstGeom>
          <a:noFill/>
          <a:ln/>
        </p:spPr>
        <p:txBody>
          <a:bodyPr wrap="square" lIns="0" tIns="0" rIns="0" bIns="0"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Why hold through</a:t>
            </a:r>
            <a:endParaRPr lang="en-US" sz="1450" dirty="0"/>
          </a:p>
        </p:txBody>
      </p:sp>
      <p:sp>
        <p:nvSpPr>
          <p:cNvPr id="10" name="Text 8"/>
          <p:cNvSpPr/>
          <p:nvPr/>
        </p:nvSpPr>
        <p:spPr>
          <a:xfrm>
            <a:off x="548640" y="4014216"/>
            <a:ext cx="5577840" cy="640080"/>
          </a:xfrm>
          <a:prstGeom prst="rect">
            <a:avLst/>
          </a:prstGeom>
          <a:noFill/>
          <a:ln/>
        </p:spPr>
        <p:txBody>
          <a:bodyPr wrap="square" lIns="0" tIns="0" rIns="0" bIns="0" rtlCol="0" anchor="ctr"/>
          <a:lstStyle/>
          <a:p>
            <a:pPr indent="0" marL="0">
              <a:buNone/>
            </a:pPr>
            <a:r>
              <a:rPr lang="en-US" sz="1300" dirty="0">
                <a:solidFill>
                  <a:srgbClr val="27313F"/>
                </a:solidFill>
                <a:latin typeface="Calibri" pitchFamily="34" charset="0"/>
                <a:ea typeface="Calibri" pitchFamily="34" charset="-122"/>
                <a:cs typeface="Calibri" pitchFamily="34" charset="-120"/>
              </a:rPr>
              <a:t>you must hold the shares to rent them - the fee is richest while shorts pile in pre-catalyst.</a:t>
            </a:r>
            <a:endParaRPr lang="en-US" sz="1300" dirty="0"/>
          </a:p>
        </p:txBody>
      </p:sp>
      <p:sp>
        <p:nvSpPr>
          <p:cNvPr id="11" name="Shape 9"/>
          <p:cNvSpPr/>
          <p:nvPr/>
        </p:nvSpPr>
        <p:spPr>
          <a:xfrm>
            <a:off x="6492240" y="1600200"/>
            <a:ext cx="5120640" cy="4114800"/>
          </a:xfrm>
          <a:prstGeom prst="roundRect">
            <a:avLst>
              <a:gd name="adj" fmla="val 2000"/>
            </a:avLst>
          </a:prstGeom>
          <a:solidFill>
            <a:srgbClr val="141B33"/>
          </a:solidFill>
          <a:ln w="12700">
            <a:solidFill>
              <a:srgbClr val="141B33"/>
            </a:solidFill>
            <a:prstDash val="solid"/>
          </a:ln>
        </p:spPr>
      </p:sp>
      <p:sp>
        <p:nvSpPr>
          <p:cNvPr id="12" name="Text 10"/>
          <p:cNvSpPr/>
          <p:nvPr/>
        </p:nvSpPr>
        <p:spPr>
          <a:xfrm>
            <a:off x="6766560" y="1783080"/>
            <a:ext cx="4572000" cy="36576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Lending income (per position)</a:t>
            </a:r>
            <a:endParaRPr lang="en-US" sz="1600" dirty="0"/>
          </a:p>
        </p:txBody>
      </p:sp>
      <p:sp>
        <p:nvSpPr>
          <p:cNvPr id="13" name="Text 11"/>
          <p:cNvSpPr/>
          <p:nvPr/>
        </p:nvSpPr>
        <p:spPr>
          <a:xfrm>
            <a:off x="6766560" y="2240280"/>
            <a:ext cx="4572000" cy="457200"/>
          </a:xfrm>
          <a:prstGeom prst="rect">
            <a:avLst/>
          </a:prstGeom>
          <a:noFill/>
          <a:ln/>
        </p:spPr>
        <p:txBody>
          <a:bodyPr wrap="square" lIns="0" tIns="0" rIns="0" bIns="0" rtlCol="0" anchor="ctr"/>
          <a:lstStyle/>
          <a:p>
            <a:pPr indent="0" marL="0">
              <a:buNone/>
            </a:pPr>
            <a:r>
              <a:rPr lang="en-US" sz="1200" dirty="0">
                <a:solidFill>
                  <a:srgbClr val="CADCFC"/>
                </a:solidFill>
                <a:latin typeface="Courier New" pitchFamily="34" charset="0"/>
                <a:ea typeface="Courier New" pitchFamily="34" charset="-122"/>
                <a:cs typeface="Courier New" pitchFamily="34" charset="-120"/>
              </a:rPr>
              <a:t>position x borrow rate x utilization x time</a:t>
            </a:r>
            <a:endParaRPr lang="en-US" sz="1200" dirty="0"/>
          </a:p>
        </p:txBody>
      </p:sp>
      <p:sp>
        <p:nvSpPr>
          <p:cNvPr id="14" name="Text 12"/>
          <p:cNvSpPr/>
          <p:nvPr/>
        </p:nvSpPr>
        <p:spPr>
          <a:xfrm>
            <a:off x="6766560" y="2743200"/>
            <a:ext cx="4572000" cy="64008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Utilization = the share of your holding actually out on loan (the rest earns nothing).</a:t>
            </a:r>
            <a:endParaRPr lang="en-US" sz="1200" dirty="0"/>
          </a:p>
        </p:txBody>
      </p:sp>
      <p:sp>
        <p:nvSpPr>
          <p:cNvPr id="15" name="Shape 13"/>
          <p:cNvSpPr/>
          <p:nvPr/>
        </p:nvSpPr>
        <p:spPr>
          <a:xfrm>
            <a:off x="6766560" y="3520440"/>
            <a:ext cx="4572000" cy="0"/>
          </a:xfrm>
          <a:prstGeom prst="line">
            <a:avLst/>
          </a:prstGeom>
          <a:noFill/>
          <a:ln w="12700">
            <a:solidFill>
              <a:srgbClr val="34406B"/>
            </a:solidFill>
            <a:prstDash val="solid"/>
          </a:ln>
        </p:spPr>
      </p:sp>
      <p:sp>
        <p:nvSpPr>
          <p:cNvPr id="16" name="Text 14"/>
          <p:cNvSpPr/>
          <p:nvPr/>
        </p:nvSpPr>
        <p:spPr>
          <a:xfrm>
            <a:off x="6766560" y="3611880"/>
            <a:ext cx="4572000" cy="320040"/>
          </a:xfrm>
          <a:prstGeom prst="rect">
            <a:avLst/>
          </a:prstGeom>
          <a:noFill/>
          <a:ln/>
        </p:spPr>
        <p:txBody>
          <a:bodyPr wrap="square" lIns="0" tIns="0" rIns="0" bIns="0" rtlCol="0" anchor="ctr"/>
          <a:lstStyle/>
          <a:p>
            <a:pPr indent="0" marL="0">
              <a:buNone/>
            </a:pPr>
            <a:r>
              <a:rPr lang="en-US" sz="1150" b="1" dirty="0">
                <a:solidFill>
                  <a:srgbClr val="CADCFC"/>
                </a:solidFill>
                <a:latin typeface="Calibri" pitchFamily="34" charset="0"/>
                <a:ea typeface="Calibri" pitchFamily="34" charset="-122"/>
                <a:cs typeface="Calibri" pitchFamily="34" charset="-120"/>
              </a:rPr>
              <a:t>Example - $1M position, 100%/yr rate, 40% on loan</a:t>
            </a:r>
            <a:endParaRPr lang="en-US" sz="1150" dirty="0"/>
          </a:p>
        </p:txBody>
      </p:sp>
      <p:sp>
        <p:nvSpPr>
          <p:cNvPr id="17" name="Text 15"/>
          <p:cNvSpPr/>
          <p:nvPr/>
        </p:nvSpPr>
        <p:spPr>
          <a:xfrm>
            <a:off x="6766560" y="3977640"/>
            <a:ext cx="4572000" cy="731520"/>
          </a:xfrm>
          <a:prstGeom prst="rect">
            <a:avLst/>
          </a:prstGeom>
          <a:noFill/>
          <a:ln/>
        </p:spPr>
        <p:txBody>
          <a:bodyPr wrap="square" lIns="0" tIns="0" rIns="0" bIns="0" rtlCol="0" anchor="ctr"/>
          <a:lstStyle/>
          <a:p>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before the event (full rate) = $31,700
</a:t>
            </a:r>
            <a:pPr indent="0" marL="0">
              <a:lnSpc>
                <a:spcPct val="120000"/>
              </a:lnSpc>
              <a:buNone/>
            </a:pPr>
            <a:r>
              <a:rPr lang="en-US" sz="1100" dirty="0">
                <a:solidFill>
                  <a:srgbClr val="FFFFFF"/>
                </a:solidFill>
                <a:latin typeface="Courier New" pitchFamily="34" charset="0"/>
                <a:ea typeface="Courier New" pitchFamily="34" charset="-122"/>
                <a:cs typeface="Courier New" pitchFamily="34" charset="-120"/>
              </a:rPr>
              <a:t>after (rate fades)          = $10,000</a:t>
            </a:r>
            <a:endParaRPr lang="en-US" sz="1100" dirty="0"/>
          </a:p>
        </p:txBody>
      </p:sp>
      <p:sp>
        <p:nvSpPr>
          <p:cNvPr id="18" name="Text 16"/>
          <p:cNvSpPr/>
          <p:nvPr/>
        </p:nvSpPr>
        <p:spPr>
          <a:xfrm>
            <a:off x="6766560" y="4892040"/>
            <a:ext cx="4572000" cy="548640"/>
          </a:xfrm>
          <a:prstGeom prst="rect">
            <a:avLst/>
          </a:prstGeom>
          <a:noFill/>
          <a:ln/>
        </p:spPr>
        <p:txBody>
          <a:bodyPr wrap="square" lIns="0" tIns="0" rIns="0" bIns="0" rtlCol="0" anchor="ctr"/>
          <a:lstStyle/>
          <a:p>
            <a:pPr indent="0" marL="0">
              <a:buNone/>
            </a:pPr>
            <a:r>
              <a:rPr lang="en-US" sz="1400" b="1" dirty="0">
                <a:solidFill>
                  <a:srgbClr val="02C39A"/>
                </a:solidFill>
                <a:latin typeface="Cambria" pitchFamily="34" charset="0"/>
                <a:ea typeface="Cambria" pitchFamily="34" charset="-122"/>
                <a:cs typeface="Cambria" pitchFamily="34" charset="-120"/>
              </a:rPr>
              <a:t>total lending = $41,700 </a:t>
            </a:r>
            <a:pPr indent="0" marL="0">
              <a:buNone/>
            </a:pPr>
            <a:r>
              <a:rPr lang="en-US" sz="1400" dirty="0">
                <a:solidFill>
                  <a:srgbClr val="CADCFC"/>
                </a:solidFill>
                <a:latin typeface="Cambria" pitchFamily="34" charset="0"/>
                <a:ea typeface="Cambria" pitchFamily="34" charset="-122"/>
                <a:cs typeface="Cambria" pitchFamily="34" charset="-120"/>
              </a:rPr>
              <a:t>(4.2% of the position, on top of the stock move)</a:t>
            </a:r>
            <a:endParaRPr lang="en-US" sz="1400" dirty="0"/>
          </a:p>
        </p:txBody>
      </p:sp>
      <p:sp>
        <p:nvSpPr>
          <p:cNvPr id="19" name="Text 17"/>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Results - over the 4 years, 2016-2019</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Raw backtest vs the honest 56%-adjusted number we'd plan around.</a:t>
            </a:r>
            <a:endParaRPr lang="en-US" sz="1250" dirty="0"/>
          </a:p>
        </p:txBody>
      </p:sp>
      <p:sp>
        <p:nvSpPr>
          <p:cNvPr id="5" name="Text 3"/>
          <p:cNvSpPr/>
          <p:nvPr/>
        </p:nvSpPr>
        <p:spPr>
          <a:xfrm>
            <a:off x="548640" y="1371600"/>
            <a:ext cx="2743200" cy="658368"/>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$26.3M</a:t>
            </a:r>
            <a:endParaRPr lang="en-US" sz="3200" dirty="0"/>
          </a:p>
        </p:txBody>
      </p:sp>
      <p:sp>
        <p:nvSpPr>
          <p:cNvPr id="6" name="Text 4"/>
          <p:cNvSpPr/>
          <p:nvPr/>
        </p:nvSpPr>
        <p:spPr>
          <a:xfrm>
            <a:off x="54864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backtest (68% data)</a:t>
            </a:r>
            <a:endParaRPr lang="en-US" sz="1150" dirty="0"/>
          </a:p>
        </p:txBody>
      </p:sp>
      <p:sp>
        <p:nvSpPr>
          <p:cNvPr id="7" name="Text 5"/>
          <p:cNvSpPr/>
          <p:nvPr/>
        </p:nvSpPr>
        <p:spPr>
          <a:xfrm>
            <a:off x="3337560" y="1371600"/>
            <a:ext cx="274320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$22.3M</a:t>
            </a:r>
            <a:endParaRPr lang="en-US" sz="3200" dirty="0"/>
          </a:p>
        </p:txBody>
      </p:sp>
      <p:sp>
        <p:nvSpPr>
          <p:cNvPr id="8" name="Text 6"/>
          <p:cNvSpPr/>
          <p:nvPr/>
        </p:nvSpPr>
        <p:spPr>
          <a:xfrm>
            <a:off x="333756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adjusted (56% real)</a:t>
            </a:r>
            <a:endParaRPr lang="en-US" sz="1150" dirty="0"/>
          </a:p>
        </p:txBody>
      </p:sp>
      <p:sp>
        <p:nvSpPr>
          <p:cNvPr id="9" name="Text 7"/>
          <p:cNvSpPr/>
          <p:nvPr/>
        </p:nvSpPr>
        <p:spPr>
          <a:xfrm>
            <a:off x="6126480" y="1371600"/>
            <a:ext cx="274320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~1.5</a:t>
            </a:r>
            <a:endParaRPr lang="en-US" sz="3200" dirty="0"/>
          </a:p>
        </p:txBody>
      </p:sp>
      <p:sp>
        <p:nvSpPr>
          <p:cNvPr id="10" name="Text 8"/>
          <p:cNvSpPr/>
          <p:nvPr/>
        </p:nvSpPr>
        <p:spPr>
          <a:xfrm>
            <a:off x="612648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Sharpe (risk-adj.)</a:t>
            </a:r>
            <a:endParaRPr lang="en-US" sz="1150" dirty="0"/>
          </a:p>
        </p:txBody>
      </p:sp>
      <p:sp>
        <p:nvSpPr>
          <p:cNvPr id="11" name="Text 9"/>
          <p:cNvSpPr/>
          <p:nvPr/>
        </p:nvSpPr>
        <p:spPr>
          <a:xfrm>
            <a:off x="8915400" y="1371600"/>
            <a:ext cx="2743200" cy="658368"/>
          </a:xfrm>
          <a:prstGeom prst="rect">
            <a:avLst/>
          </a:prstGeom>
          <a:noFill/>
          <a:ln/>
        </p:spPr>
        <p:txBody>
          <a:bodyPr wrap="square" lIns="0" tIns="0" rIns="0" bIns="0" rtlCol="0" anchor="ctr"/>
          <a:lstStyle/>
          <a:p>
            <a:pPr algn="ctr" indent="0" marL="0">
              <a:buNone/>
            </a:pPr>
            <a:r>
              <a:rPr lang="en-US" sz="3200" b="1" dirty="0">
                <a:solidFill>
                  <a:srgbClr val="C0392F"/>
                </a:solidFill>
                <a:latin typeface="Cambria" pitchFamily="34" charset="0"/>
                <a:ea typeface="Cambria" pitchFamily="34" charset="-122"/>
                <a:cs typeface="Cambria" pitchFamily="34" charset="-120"/>
              </a:rPr>
              <a:t>-18%</a:t>
            </a:r>
            <a:endParaRPr lang="en-US" sz="3200" dirty="0"/>
          </a:p>
        </p:txBody>
      </p:sp>
      <p:sp>
        <p:nvSpPr>
          <p:cNvPr id="12" name="Text 10"/>
          <p:cNvSpPr/>
          <p:nvPr/>
        </p:nvSpPr>
        <p:spPr>
          <a:xfrm>
            <a:off x="8915400" y="2029968"/>
            <a:ext cx="274320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worst dip (max DD)</a:t>
            </a:r>
            <a:endParaRPr lang="en-US" sz="1150" dirty="0"/>
          </a:p>
        </p:txBody>
      </p:sp>
      <p:pic>
        <p:nvPicPr>
          <p:cNvPr id="13" name="Image 0" descr="/Users/gigi/hedgefund-analysis/reports/backtest_equity.png">    </p:cNvPr>
          <p:cNvPicPr>
            <a:picLocks noChangeAspect="1"/>
          </p:cNvPicPr>
          <p:nvPr/>
        </p:nvPicPr>
        <p:blipFill>
          <a:blip r:embed="rId1"/>
          <a:stretch>
            <a:fillRect/>
          </a:stretch>
        </p:blipFill>
        <p:spPr>
          <a:xfrm>
            <a:off x="457200" y="2697480"/>
            <a:ext cx="6766560" cy="3044952"/>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52360" y="2788920"/>
          <a:ext cx="4206240" cy="914400"/>
        </p:xfrm>
        <a:graphic>
          <a:graphicData uri="http://schemas.openxmlformats.org/drawingml/2006/table">
            <a:tbl>
              <a:tblPr/>
              <a:tblGrid>
                <a:gridCol w="2194560"/>
                <a:gridCol w="1005840"/>
                <a:gridCol w="1005840"/>
              </a:tblGrid>
              <a:tr h="438912">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vs market (56% adj)</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$10M-&gt;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per yr</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438912">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Strategy (hedged)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$23M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38912">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Strategy (un-hedged)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$27M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38912">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S&amp;P 500 buy &amp; hold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$17M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438912">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XBI biotech buy &amp; hold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$14M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15" name="Text 11"/>
          <p:cNvSpPr/>
          <p:nvPr/>
        </p:nvSpPr>
        <p:spPr>
          <a:xfrm>
            <a:off x="7452360" y="5029200"/>
            <a:ext cx="4206240" cy="914400"/>
          </a:xfrm>
          <a:prstGeom prst="rect">
            <a:avLst/>
          </a:prstGeom>
          <a:noFill/>
          <a:ln/>
        </p:spPr>
        <p:txBody>
          <a:bodyPr wrap="square" rtlCol="0" anchor="t"/>
          <a:lstStyle/>
          <a:p>
            <a:pPr indent="0" marL="0">
              <a:lnSpc>
                <a:spcPct val="115000"/>
              </a:lnSpc>
              <a:buNone/>
            </a:pPr>
            <a:r>
              <a:rPr lang="en-US" sz="1150" b="1" dirty="0">
                <a:solidFill>
                  <a:srgbClr val="1E2761"/>
                </a:solidFill>
                <a:latin typeface="Calibri" pitchFamily="34" charset="0"/>
                <a:ea typeface="Calibri" pitchFamily="34" charset="-122"/>
                <a:cs typeface="Calibri" pitchFamily="34" charset="-120"/>
              </a:rPr>
              <a:t>Sharpe ~1.5 = solid </a:t>
            </a:r>
            <a:pPr indent="0" marL="0">
              <a:lnSpc>
                <a:spcPct val="115000"/>
              </a:lnSpc>
              <a:buNone/>
            </a:pPr>
            <a:r>
              <a:rPr lang="en-US" sz="1150" dirty="0">
                <a:solidFill>
                  <a:srgbClr val="5B636E"/>
                </a:solidFill>
                <a:latin typeface="Calibri" pitchFamily="34" charset="0"/>
                <a:ea typeface="Calibri" pitchFamily="34" charset="-122"/>
                <a:cs typeface="Calibri" pitchFamily="34" charset="-120"/>
              </a:rPr>
              <a:t>(above 1 is good) return for the risk. Max dip -18% = the worst peak-to-trough along the way. Never a losing 4-year run in the sims.</a:t>
            </a:r>
            <a:endParaRPr lang="en-US" sz="1150" dirty="0"/>
          </a:p>
        </p:txBody>
      </p:sp>
      <p:sp>
        <p:nvSpPr>
          <p:cNvPr id="16" name="Text 12"/>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Is the profit the stock, or the lending? Every trade</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Answer: ~77% from the stock going up, ~23% from lending fees - and we don't win them all.</a:t>
            </a:r>
            <a:endParaRPr lang="en-US" sz="1250" dirty="0"/>
          </a:p>
        </p:txBody>
      </p:sp>
      <p:pic>
        <p:nvPicPr>
          <p:cNvPr id="5" name="Image 0" descr="/Users/gigi/hedgefund-analysis/reports/per_trade_breakdown.png">    </p:cNvPr>
          <p:cNvPicPr>
            <a:picLocks noChangeAspect="1"/>
          </p:cNvPicPr>
          <p:nvPr/>
        </p:nvPicPr>
        <p:blipFill>
          <a:blip r:embed="rId1"/>
          <a:stretch>
            <a:fillRect/>
          </a:stretch>
        </p:blipFill>
        <p:spPr>
          <a:xfrm>
            <a:off x="457200" y="1600200"/>
            <a:ext cx="6949440" cy="2907792"/>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589520" y="1691640"/>
          <a:ext cx="4023360" cy="914400"/>
        </p:xfrm>
        <a:graphic>
          <a:graphicData uri="http://schemas.openxmlformats.org/drawingml/2006/table">
            <a:tbl>
              <a:tblPr/>
              <a:tblGrid>
                <a:gridCol w="1554480"/>
                <a:gridCol w="822960"/>
                <a:gridCol w="822960"/>
                <a:gridCol w="82296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Trades ($M)</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Stock</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Lend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Net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00" b="1" dirty="0">
                          <a:solidFill>
                            <a:srgbClr val="02C39A"/>
                          </a:solidFill>
                          <a:latin typeface="Calibri" pitchFamily="34" charset="0"/>
                          <a:ea typeface="Calibri" pitchFamily="34" charset="-122"/>
                          <a:cs typeface="Calibri" pitchFamily="34" charset="-120"/>
                        </a:rPr>
                        <a:t>118 winners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+28.4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b="1" dirty="0">
                          <a:solidFill>
                            <a:srgbClr val="C0392F"/>
                          </a:solidFill>
                          <a:latin typeface="Calibri" pitchFamily="34" charset="0"/>
                          <a:ea typeface="Calibri" pitchFamily="34" charset="-122"/>
                          <a:cs typeface="Calibri" pitchFamily="34" charset="-120"/>
                        </a:rPr>
                        <a:t>90 losers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-11.9</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All 208 taken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+14.6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+4.3</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1E2761"/>
                          </a:solidFill>
                          <a:latin typeface="Calibri" pitchFamily="34" charset="0"/>
                          <a:ea typeface="Calibri" pitchFamily="34" charset="-122"/>
                          <a:cs typeface="Calibri" pitchFamily="34" charset="-120"/>
                        </a:rPr>
                        <a:t>+18.0</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7" name="Text 3"/>
          <p:cNvSpPr/>
          <p:nvPr/>
        </p:nvSpPr>
        <p:spPr>
          <a:xfrm>
            <a:off x="7589520" y="3611880"/>
            <a:ext cx="4023360" cy="1280160"/>
          </a:xfrm>
          <a:prstGeom prst="rect">
            <a:avLst/>
          </a:prstGeom>
          <a:noFill/>
          <a:ln/>
        </p:spPr>
        <p:txBody>
          <a:bodyPr wrap="square" rtlCol="0" anchor="t"/>
          <a:lstStyle/>
          <a:p>
            <a:pPr indent="0" marL="0">
              <a:lnSpc>
                <a:spcPct val="118000"/>
              </a:lnSpc>
              <a:buNone/>
            </a:pPr>
            <a:r>
              <a:rPr lang="en-US" sz="1200" b="1" dirty="0">
                <a:solidFill>
                  <a:srgbClr val="1E2761"/>
                </a:solidFill>
                <a:latin typeface="Calibri" pitchFamily="34" charset="0"/>
                <a:ea typeface="Calibri" pitchFamily="34" charset="-122"/>
                <a:cs typeface="Calibri" pitchFamily="34" charset="-120"/>
              </a:rPr>
              <a:t>Stock ~77%, lending ~23%. </a:t>
            </a:r>
            <a:pPr indent="0" marL="0">
              <a:lnSpc>
                <a:spcPct val="118000"/>
              </a:lnSpc>
              <a:buNone/>
            </a:pPr>
            <a:r>
              <a:rPr lang="en-US" sz="1200" dirty="0">
                <a:solidFill>
                  <a:srgbClr val="27313F"/>
                </a:solidFill>
                <a:latin typeface="Calibri" pitchFamily="34" charset="0"/>
                <a:ea typeface="Calibri" pitchFamily="34" charset="-122"/>
                <a:cs typeface="Calibri" pitchFamily="34" charset="-120"/>
              </a:rPr>
              <a:t>90 of 208 trades still LOST on price (winners that drifted down) - lending pays on every one, cushioning them.</a:t>
            </a:r>
            <a:endParaRPr lang="en-US" sz="1200" dirty="0"/>
          </a:p>
        </p:txBody>
      </p:sp>
      <p:sp>
        <p:nvSpPr>
          <p:cNvPr id="8" name="Text 4"/>
          <p:cNvSpPr/>
          <p:nvPr/>
        </p:nvSpPr>
        <p:spPr>
          <a:xfrm>
            <a:off x="7589520" y="5074920"/>
            <a:ext cx="4023360" cy="640080"/>
          </a:xfrm>
          <a:prstGeom prst="rect">
            <a:avLst/>
          </a:prstGeom>
          <a:noFill/>
          <a:ln/>
        </p:spPr>
        <p:txBody>
          <a:bodyPr wrap="square" rtlCol="0" anchor="t"/>
          <a:lstStyle/>
          <a:p>
            <a:pPr indent="0" marL="0">
              <a:buNone/>
            </a:pPr>
            <a:r>
              <a:rPr lang="en-US" sz="1100" i="1" dirty="0">
                <a:solidFill>
                  <a:srgbClr val="5B636E"/>
                </a:solidFill>
                <a:latin typeface="Calibri" pitchFamily="34" charset="0"/>
                <a:ea typeface="Calibri" pitchFamily="34" charset="-122"/>
                <a:cs typeface="Calibri" pitchFamily="34" charset="-120"/>
              </a:rPr>
              <a:t>208 traded of the 217 winners - ~9 were skipped when the book was already full (30-name cap).</a:t>
            </a:r>
            <a:endParaRPr lang="en-US" sz="1100" dirty="0"/>
          </a:p>
        </p:txBody>
      </p:sp>
      <p:sp>
        <p:nvSpPr>
          <p:cNvPr id="9" name="Text 5"/>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Does it even need a model?</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Yes - the model roughly adds 40%, and (more importantly) it protects you.</a:t>
            </a:r>
            <a:endParaRPr lang="en-US" sz="1250" dirty="0"/>
          </a:p>
        </p:txBody>
      </p:sp>
      <p:sp>
        <p:nvSpPr>
          <p:cNvPr id="5" name="Text 3"/>
          <p:cNvSpPr/>
          <p:nvPr/>
        </p:nvSpPr>
        <p:spPr>
          <a:xfrm>
            <a:off x="914400" y="1828800"/>
            <a:ext cx="3108960" cy="658368"/>
          </a:xfrm>
          <a:prstGeom prst="rect">
            <a:avLst/>
          </a:prstGeom>
          <a:noFill/>
          <a:ln/>
        </p:spPr>
        <p:txBody>
          <a:bodyPr wrap="square" lIns="0" tIns="0" rIns="0" bIns="0" rtlCol="0" anchor="ctr"/>
          <a:lstStyle/>
          <a:p>
            <a:pPr algn="ctr" indent="0" marL="0">
              <a:buNone/>
            </a:pPr>
            <a:r>
              <a:rPr lang="en-US" sz="3200" b="1" dirty="0">
                <a:solidFill>
                  <a:srgbClr val="5B636E"/>
                </a:solidFill>
                <a:latin typeface="Cambria" pitchFamily="34" charset="0"/>
                <a:ea typeface="Cambria" pitchFamily="34" charset="-122"/>
                <a:cs typeface="Cambria" pitchFamily="34" charset="-120"/>
              </a:rPr>
              <a:t>$16.3M</a:t>
            </a:r>
            <a:endParaRPr lang="en-US" sz="3200" dirty="0"/>
          </a:p>
        </p:txBody>
      </p:sp>
      <p:sp>
        <p:nvSpPr>
          <p:cNvPr id="6" name="Text 4"/>
          <p:cNvSpPr/>
          <p:nvPr/>
        </p:nvSpPr>
        <p:spPr>
          <a:xfrm>
            <a:off x="914400" y="248716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NO model (long everything)</a:t>
            </a:r>
            <a:endParaRPr lang="en-US" sz="1150" dirty="0"/>
          </a:p>
        </p:txBody>
      </p:sp>
      <p:sp>
        <p:nvSpPr>
          <p:cNvPr id="7" name="Text 5"/>
          <p:cNvSpPr/>
          <p:nvPr/>
        </p:nvSpPr>
        <p:spPr>
          <a:xfrm>
            <a:off x="4206240" y="1920240"/>
            <a:ext cx="914400" cy="914400"/>
          </a:xfrm>
          <a:prstGeom prst="rect">
            <a:avLst/>
          </a:prstGeom>
          <a:noFill/>
          <a:ln/>
        </p:spPr>
        <p:txBody>
          <a:bodyPr wrap="square" rtlCol="0" anchor="ctr"/>
          <a:lstStyle/>
          <a:p>
            <a:pPr algn="ctr" indent="0" marL="0">
              <a:buNone/>
            </a:pPr>
            <a:r>
              <a:rPr lang="en-US" sz="3600" b="1" dirty="0">
                <a:solidFill>
                  <a:srgbClr val="02C39A"/>
                </a:solidFill>
                <a:latin typeface="Cambria" pitchFamily="34" charset="0"/>
                <a:ea typeface="Cambria" pitchFamily="34" charset="-122"/>
                <a:cs typeface="Cambria" pitchFamily="34" charset="-120"/>
              </a:rPr>
              <a:t>-&gt;</a:t>
            </a:r>
            <a:endParaRPr lang="en-US" sz="3600" dirty="0"/>
          </a:p>
        </p:txBody>
      </p:sp>
      <p:sp>
        <p:nvSpPr>
          <p:cNvPr id="8" name="Text 6"/>
          <p:cNvSpPr/>
          <p:nvPr/>
        </p:nvSpPr>
        <p:spPr>
          <a:xfrm>
            <a:off x="5212080" y="1828800"/>
            <a:ext cx="3108960" cy="658368"/>
          </a:xfrm>
          <a:prstGeom prst="rect">
            <a:avLst/>
          </a:prstGeom>
          <a:noFill/>
          <a:ln/>
        </p:spPr>
        <p:txBody>
          <a:bodyPr wrap="square" lIns="0" tIns="0" rIns="0" bIns="0" rtlCol="0" anchor="ctr"/>
          <a:lstStyle/>
          <a:p>
            <a:pPr algn="ctr" indent="0" marL="0">
              <a:buNone/>
            </a:pPr>
            <a:r>
              <a:rPr lang="en-US" sz="3200" b="1" dirty="0">
                <a:solidFill>
                  <a:srgbClr val="02C39A"/>
                </a:solidFill>
                <a:latin typeface="Cambria" pitchFamily="34" charset="0"/>
                <a:ea typeface="Cambria" pitchFamily="34" charset="-122"/>
                <a:cs typeface="Cambria" pitchFamily="34" charset="-120"/>
              </a:rPr>
              <a:t>$22.3M</a:t>
            </a:r>
            <a:endParaRPr lang="en-US" sz="3200" dirty="0"/>
          </a:p>
        </p:txBody>
      </p:sp>
      <p:sp>
        <p:nvSpPr>
          <p:cNvPr id="9" name="Text 7"/>
          <p:cNvSpPr/>
          <p:nvPr/>
        </p:nvSpPr>
        <p:spPr>
          <a:xfrm>
            <a:off x="5212080" y="248716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WITH a 90% model</a:t>
            </a:r>
            <a:endParaRPr lang="en-US" sz="1150" dirty="0"/>
          </a:p>
        </p:txBody>
      </p:sp>
      <p:sp>
        <p:nvSpPr>
          <p:cNvPr id="10" name="Text 8"/>
          <p:cNvSpPr/>
          <p:nvPr/>
        </p:nvSpPr>
        <p:spPr>
          <a:xfrm>
            <a:off x="8686800" y="1828800"/>
            <a:ext cx="3108960" cy="658368"/>
          </a:xfrm>
          <a:prstGeom prst="rect">
            <a:avLst/>
          </a:prstGeom>
          <a:noFill/>
          <a:ln/>
        </p:spPr>
        <p:txBody>
          <a:bodyPr wrap="square" lIns="0" tIns="0" rIns="0" bIns="0" rtlCol="0" anchor="ctr"/>
          <a:lstStyle/>
          <a:p>
            <a:pPr algn="ctr" indent="0" marL="0">
              <a:buNone/>
            </a:pPr>
            <a:r>
              <a:rPr lang="en-US" sz="3200" b="1" dirty="0">
                <a:solidFill>
                  <a:srgbClr val="1E2761"/>
                </a:solidFill>
                <a:latin typeface="Cambria" pitchFamily="34" charset="0"/>
                <a:ea typeface="Cambria" pitchFamily="34" charset="-122"/>
                <a:cs typeface="Cambria" pitchFamily="34" charset="-120"/>
              </a:rPr>
              <a:t>+40%</a:t>
            </a:r>
            <a:endParaRPr lang="en-US" sz="3200" dirty="0"/>
          </a:p>
        </p:txBody>
      </p:sp>
      <p:sp>
        <p:nvSpPr>
          <p:cNvPr id="11" name="Text 9"/>
          <p:cNvSpPr/>
          <p:nvPr/>
        </p:nvSpPr>
        <p:spPr>
          <a:xfrm>
            <a:off x="8686800" y="2487168"/>
            <a:ext cx="3108960" cy="457200"/>
          </a:xfrm>
          <a:prstGeom prst="rect">
            <a:avLst/>
          </a:prstGeom>
          <a:noFill/>
          <a:ln/>
        </p:spPr>
        <p:txBody>
          <a:bodyPr wrap="square" lIns="0" tIns="0" rIns="0" bIns="0" rtlCol="0" anchor="t"/>
          <a:lstStyle/>
          <a:p>
            <a:pPr algn="ctr" indent="0" marL="0">
              <a:buNone/>
            </a:pPr>
            <a:r>
              <a:rPr lang="en-US" sz="1150" dirty="0">
                <a:solidFill>
                  <a:srgbClr val="5B636E"/>
                </a:solidFill>
                <a:latin typeface="Calibri" pitchFamily="34" charset="0"/>
                <a:ea typeface="Calibri" pitchFamily="34" charset="-122"/>
                <a:cs typeface="Calibri" pitchFamily="34" charset="-120"/>
              </a:rPr>
              <a:t>the model's value</a:t>
            </a:r>
            <a:endParaRPr lang="en-US" sz="1150" dirty="0"/>
          </a:p>
        </p:txBody>
      </p:sp>
      <p:sp>
        <p:nvSpPr>
          <p:cNvPr id="12" name="Text 10"/>
          <p:cNvSpPr/>
          <p:nvPr/>
        </p:nvSpPr>
        <p:spPr>
          <a:xfrm>
            <a:off x="914400" y="3429000"/>
            <a:ext cx="10332720" cy="1280160"/>
          </a:xfrm>
          <a:prstGeom prst="rect">
            <a:avLst/>
          </a:prstGeom>
          <a:noFill/>
          <a:ln/>
        </p:spPr>
        <p:txBody>
          <a:bodyPr wrap="square" rtlCol="0" anchor="t"/>
          <a:lstStyle/>
          <a:p>
            <a:pPr indent="0" marL="0">
              <a:lnSpc>
                <a:spcPct val="122000"/>
              </a:lnSpc>
              <a:buNone/>
            </a:pPr>
            <a:r>
              <a:rPr lang="en-US" sz="1450" dirty="0">
                <a:solidFill>
                  <a:srgbClr val="27313F"/>
                </a:solidFill>
                <a:latin typeface="Calibri" pitchFamily="34" charset="0"/>
                <a:ea typeface="Calibri" pitchFamily="34" charset="-122"/>
                <a:cs typeface="Calibri" pitchFamily="34" charset="-120"/>
              </a:rPr>
              <a:t>At the realistic 56% rate, winners still slightly outnumber losers (~1.3 to 1) and lending pays - so even buying EVERYTHING makes money in this backtest. </a:t>
            </a:r>
            <a:pPr indent="0" marL="0">
              <a:lnSpc>
                <a:spcPct val="122000"/>
              </a:lnSpc>
              <a:buNone/>
            </a:pPr>
            <a:r>
              <a:rPr lang="en-US" sz="1450" b="1" dirty="0">
                <a:solidFill>
                  <a:srgbClr val="C0392F"/>
                </a:solidFill>
                <a:latin typeface="Calibri" pitchFamily="34" charset="0"/>
                <a:ea typeface="Calibri" pitchFamily="34" charset="-122"/>
                <a:cs typeface="Calibri" pitchFamily="34" charset="-120"/>
              </a:rPr>
              <a:t>But that floor is fragile:</a:t>
            </a:r>
            <a:pPr indent="0" marL="0">
              <a:lnSpc>
                <a:spcPct val="122000"/>
              </a:lnSpc>
              <a:buNone/>
            </a:pPr>
            <a:r>
              <a:rPr lang="en-US" sz="1450" dirty="0">
                <a:solidFill>
                  <a:srgbClr val="27313F"/>
                </a:solidFill>
                <a:latin typeface="Calibri" pitchFamily="34" charset="0"/>
                <a:ea typeface="Calibri" pitchFamily="34" charset="-122"/>
                <a:cs typeface="Calibri" pitchFamily="34" charset="-120"/>
              </a:rPr>
              <a:t> it leans on this being a friendly 2016-2019 market. The model's job is to lift the return AND keep it standing when winners get rarer (next slide).</a:t>
            </a:r>
            <a:endParaRPr lang="en-US" sz="1450" dirty="0"/>
          </a:p>
        </p:txBody>
      </p:sp>
      <p:sp>
        <p:nvSpPr>
          <p:cNvPr id="13" name="Shape 11"/>
          <p:cNvSpPr/>
          <p:nvPr/>
        </p:nvSpPr>
        <p:spPr>
          <a:xfrm>
            <a:off x="914400" y="4937760"/>
            <a:ext cx="10332720" cy="960120"/>
          </a:xfrm>
          <a:prstGeom prst="roundRect">
            <a:avLst>
              <a:gd name="adj" fmla="val 7619"/>
            </a:avLst>
          </a:prstGeom>
          <a:solidFill>
            <a:srgbClr val="F0FAF6"/>
          </a:solidFill>
          <a:ln w="12700">
            <a:solidFill>
              <a:srgbClr val="02C39A"/>
            </a:solidFill>
            <a:prstDash val="solid"/>
          </a:ln>
        </p:spPr>
      </p:sp>
      <p:sp>
        <p:nvSpPr>
          <p:cNvPr id="14" name="Text 12"/>
          <p:cNvSpPr/>
          <p:nvPr/>
        </p:nvSpPr>
        <p:spPr>
          <a:xfrm>
            <a:off x="1143000" y="5047488"/>
            <a:ext cx="9875520" cy="73152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Floor $16.3M (no skill)  ·  Realistic $22.3M (90% model)  ·  Ceiling $24.9M (perfect model). </a:t>
            </a:r>
            <a:pPr indent="0" marL="0">
              <a:buNone/>
            </a:pPr>
            <a:r>
              <a:rPr lang="en-US" sz="1350" dirty="0">
                <a:solidFill>
                  <a:srgbClr val="27313F"/>
                </a:solidFill>
                <a:latin typeface="Calibri" pitchFamily="34" charset="0"/>
                <a:ea typeface="Calibri" pitchFamily="34" charset="-122"/>
                <a:cs typeface="Calibri" pitchFamily="34" charset="-120"/>
              </a:rPr>
              <a:t>The model is what turns 'positive in a good market' into 'robust.'</a:t>
            </a:r>
            <a:endParaRPr lang="en-US" sz="1350" dirty="0"/>
          </a:p>
        </p:txBody>
      </p:sp>
      <p:sp>
        <p:nvSpPr>
          <p:cNvPr id="15" name="Text 13"/>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11</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Monte Carlo - do our assumption-guesses break it?</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Hold model accuracy fixed; roll the uncertain cost assumptions 500 times (56% universe).</a:t>
            </a:r>
            <a:endParaRPr lang="en-US" sz="1250" dirty="0"/>
          </a:p>
        </p:txBody>
      </p:sp>
      <p:sp>
        <p:nvSpPr>
          <p:cNvPr id="5" name="Shape 3"/>
          <p:cNvSpPr/>
          <p:nvPr/>
        </p:nvSpPr>
        <p:spPr>
          <a:xfrm>
            <a:off x="548640" y="1463040"/>
            <a:ext cx="5440680" cy="1417320"/>
          </a:xfrm>
          <a:prstGeom prst="roundRect">
            <a:avLst>
              <a:gd name="adj" fmla="val 5161"/>
            </a:avLst>
          </a:prstGeom>
          <a:solidFill>
            <a:srgbClr val="F4F6FC"/>
          </a:solidFill>
          <a:ln w="12700">
            <a:solidFill>
              <a:srgbClr val="E4E6EE"/>
            </a:solidFill>
            <a:prstDash val="solid"/>
          </a:ln>
        </p:spPr>
      </p:sp>
      <p:sp>
        <p:nvSpPr>
          <p:cNvPr id="6" name="Text 4"/>
          <p:cNvSpPr/>
          <p:nvPr/>
        </p:nvSpPr>
        <p:spPr>
          <a:xfrm>
            <a:off x="731520" y="1554480"/>
            <a:ext cx="5029200" cy="274320"/>
          </a:xfrm>
          <a:prstGeom prst="rect">
            <a:avLst/>
          </a:prstGeom>
          <a:noFill/>
          <a:ln/>
        </p:spPr>
        <p:txBody>
          <a:bodyPr wrap="square" lIns="0" tIns="0" rIns="0" bIns="0" rtlCol="0" anchor="ctr"/>
          <a:lstStyle/>
          <a:p>
            <a:pPr indent="0" marL="0">
              <a:buNone/>
            </a:pPr>
            <a:r>
              <a:rPr lang="en-US" sz="1100" b="1" spc="100" kern="0" dirty="0">
                <a:solidFill>
                  <a:srgbClr val="5B636E"/>
                </a:solidFill>
                <a:latin typeface="Calibri" pitchFamily="34" charset="0"/>
                <a:ea typeface="Calibri" pitchFamily="34" charset="-122"/>
                <a:cs typeface="Calibri" pitchFamily="34" charset="-120"/>
              </a:rPr>
              <a:t>HELD FIXED (the baseline)</a:t>
            </a:r>
            <a:endParaRPr lang="en-US" sz="1100" dirty="0"/>
          </a:p>
        </p:txBody>
      </p:sp>
      <p:sp>
        <p:nvSpPr>
          <p:cNvPr id="7" name="Text 5"/>
          <p:cNvSpPr/>
          <p:nvPr/>
        </p:nvSpPr>
        <p:spPr>
          <a:xfrm>
            <a:off x="731520" y="1874520"/>
            <a:ext cx="5029200" cy="914400"/>
          </a:xfrm>
          <a:prstGeom prst="rect">
            <a:avLst/>
          </a:prstGeom>
          <a:noFill/>
          <a:ln/>
        </p:spPr>
        <p:txBody>
          <a:bodyPr wrap="square" lIns="0" tIns="0" rIns="0" bIns="0" rtlCol="0" anchor="t"/>
          <a:lstStyle/>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Model accuracy 90% (then 80%)</a:t>
            </a:r>
            <a:endParaRPr lang="en-US" sz="1250" dirty="0"/>
          </a:p>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Position size 5%, ~30 names, timing</a:t>
            </a:r>
            <a:endParaRPr lang="en-US" sz="1250" dirty="0"/>
          </a:p>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(our design choices)</a:t>
            </a:r>
            <a:endParaRPr lang="en-US" sz="1250" dirty="0"/>
          </a:p>
        </p:txBody>
      </p:sp>
      <p:sp>
        <p:nvSpPr>
          <p:cNvPr id="8" name="Shape 6"/>
          <p:cNvSpPr/>
          <p:nvPr/>
        </p:nvSpPr>
        <p:spPr>
          <a:xfrm>
            <a:off x="6172200" y="1463040"/>
            <a:ext cx="5440680" cy="1417320"/>
          </a:xfrm>
          <a:prstGeom prst="roundRect">
            <a:avLst>
              <a:gd name="adj" fmla="val 5161"/>
            </a:avLst>
          </a:prstGeom>
          <a:solidFill>
            <a:srgbClr val="F0FAF6"/>
          </a:solidFill>
          <a:ln w="12700">
            <a:solidFill>
              <a:srgbClr val="02C39A"/>
            </a:solidFill>
            <a:prstDash val="solid"/>
          </a:ln>
        </p:spPr>
      </p:sp>
      <p:sp>
        <p:nvSpPr>
          <p:cNvPr id="9" name="Text 7"/>
          <p:cNvSpPr/>
          <p:nvPr/>
        </p:nvSpPr>
        <p:spPr>
          <a:xfrm>
            <a:off x="6355080" y="1554480"/>
            <a:ext cx="5029200" cy="274320"/>
          </a:xfrm>
          <a:prstGeom prst="rect">
            <a:avLst/>
          </a:prstGeom>
          <a:noFill/>
          <a:ln/>
        </p:spPr>
        <p:txBody>
          <a:bodyPr wrap="square" lIns="0" tIns="0" rIns="0" bIns="0" rtlCol="0" anchor="ctr"/>
          <a:lstStyle/>
          <a:p>
            <a:pPr indent="0" marL="0">
              <a:buNone/>
            </a:pPr>
            <a:r>
              <a:rPr lang="en-US" sz="1100" b="1" spc="100" kern="0" dirty="0">
                <a:solidFill>
                  <a:srgbClr val="0A8F6E"/>
                </a:solidFill>
                <a:latin typeface="Calibri" pitchFamily="34" charset="0"/>
                <a:ea typeface="Calibri" pitchFamily="34" charset="-122"/>
                <a:cs typeface="Calibri" pitchFamily="34" charset="-120"/>
              </a:rPr>
              <a:t>DRAWN AT RANDOM each run</a:t>
            </a:r>
            <a:endParaRPr lang="en-US" sz="1100" dirty="0"/>
          </a:p>
        </p:txBody>
      </p:sp>
      <p:sp>
        <p:nvSpPr>
          <p:cNvPr id="10" name="Text 8"/>
          <p:cNvSpPr/>
          <p:nvPr/>
        </p:nvSpPr>
        <p:spPr>
          <a:xfrm>
            <a:off x="6355080" y="1874520"/>
            <a:ext cx="5029200" cy="914400"/>
          </a:xfrm>
          <a:prstGeom prst="rect">
            <a:avLst/>
          </a:prstGeom>
          <a:noFill/>
          <a:ln/>
        </p:spPr>
        <p:txBody>
          <a:bodyPr wrap="square" lIns="0" tIns="0" rIns="0" bIns="0" rtlCol="0" anchor="t"/>
          <a:lstStyle/>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Borrow rate 25-250%/yr · Utilization 20-60%</a:t>
            </a:r>
            <a:endParaRPr lang="en-US" sz="1250" dirty="0"/>
          </a:p>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Post-event fade 5-25% · Trading cost 40-150 bps</a:t>
            </a:r>
            <a:endParaRPr lang="en-US" sz="1250" dirty="0"/>
          </a:p>
          <a:p>
            <a:pPr indent="0" marL="0">
              <a:lnSpc>
                <a:spcPct val="115000"/>
              </a:lnSpc>
              <a:buNone/>
            </a:pPr>
            <a:r>
              <a:rPr lang="en-US" sz="1250" dirty="0">
                <a:solidFill>
                  <a:srgbClr val="27313F"/>
                </a:solidFill>
                <a:latin typeface="Calibri" pitchFamily="34" charset="0"/>
                <a:ea typeface="Calibri" pitchFamily="34" charset="-122"/>
                <a:cs typeface="Calibri" pitchFamily="34" charset="-120"/>
              </a:rPr>
              <a:t>(the 4 market unknowns)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063240"/>
          <a:ext cx="11064240" cy="914400"/>
        </p:xfrm>
        <a:graphic>
          <a:graphicData uri="http://schemas.openxmlformats.org/drawingml/2006/table">
            <a:tbl>
              <a:tblPr/>
              <a:tblGrid>
                <a:gridCol w="4480560"/>
                <a:gridCol w="3291840"/>
                <a:gridCol w="329184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What varies (accuracy fixed)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90% model - precision 92%</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80% model - precision 84%</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Assumptions drawn independently</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$21.9M  [18.0, 27.8]</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$19.8M  [15.7, 25.6]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Assumptions correlated (all hit at once)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$21.7M  [18.4, 26.6]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$19.5M  [15.4, 24.3]</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i="1" dirty="0">
                          <a:solidFill>
                            <a:srgbClr val="27313F"/>
                          </a:solidFill>
                          <a:latin typeface="Calibri" pitchFamily="34" charset="0"/>
                          <a:ea typeface="Calibri" pitchFamily="34" charset="-122"/>
                          <a:cs typeface="Calibri" pitchFamily="34" charset="-120"/>
                        </a:rPr>
                        <a:t>Chance of losing money (in the sims)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12" name="Text 9"/>
          <p:cNvSpPr/>
          <p:nvPr/>
        </p:nvSpPr>
        <p:spPr>
          <a:xfrm>
            <a:off x="548640" y="5257800"/>
            <a:ext cx="11064240" cy="777240"/>
          </a:xfrm>
          <a:prstGeom prst="rect">
            <a:avLst/>
          </a:prstGeom>
          <a:noFill/>
          <a:ln/>
        </p:spPr>
        <p:txBody>
          <a:bodyPr wrap="square" rtlCol="0" anchor="t"/>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Read: </a:t>
            </a:r>
            <a:pPr indent="0" marL="0">
              <a:lnSpc>
                <a:spcPct val="115000"/>
              </a:lnSpc>
              <a:buNone/>
            </a:pPr>
            <a:r>
              <a:rPr lang="en-US" sz="1300" dirty="0">
                <a:solidFill>
                  <a:srgbClr val="27313F"/>
                </a:solidFill>
                <a:latin typeface="Calibri" pitchFamily="34" charset="0"/>
                <a:ea typeface="Calibri" pitchFamily="34" charset="-122"/>
                <a:cs typeface="Calibri" pitchFamily="34" charset="-120"/>
              </a:rPr>
              <a:t>a typical run makes ~$22M; even the unlucky 5% stays ~$18M, above the $10M start. Correlating the assumptions barely trims it - the cost guesses don't break it. </a:t>
            </a:r>
            <a:pPr indent="0" marL="0">
              <a:lnSpc>
                <a:spcPct val="115000"/>
              </a:lnSpc>
              <a:buNone/>
            </a:pPr>
            <a:r>
              <a:rPr lang="en-US" sz="1300" b="1" dirty="0">
                <a:solidFill>
                  <a:srgbClr val="9A6A12"/>
                </a:solidFill>
                <a:latin typeface="Calibri" pitchFamily="34" charset="0"/>
                <a:ea typeface="Calibri" pitchFamily="34" charset="-122"/>
                <a:cs typeface="Calibri" pitchFamily="34" charset="-120"/>
              </a:rPr>
              <a:t>Caveat: every run uses 2016-2019 prices, so "0% loss" means in a market like that one.</a:t>
            </a:r>
            <a:endParaRPr lang="en-US" sz="1300" dirty="0"/>
          </a:p>
        </p:txBody>
      </p:sp>
      <p:sp>
        <p:nvSpPr>
          <p:cNvPr id="13" name="Text 10"/>
          <p:cNvSpPr/>
          <p:nvPr/>
        </p:nvSpPr>
        <p:spPr>
          <a:xfrm>
            <a:off x="548640" y="6108192"/>
            <a:ext cx="11064240" cy="320040"/>
          </a:xfrm>
          <a:prstGeom prst="rect">
            <a:avLst/>
          </a:prstGeom>
          <a:noFill/>
          <a:ln/>
        </p:spPr>
        <p:txBody>
          <a:bodyPr wrap="square" rtlCol="0" anchor="ctr"/>
          <a:lstStyle/>
          <a:p>
            <a:pPr indent="0" marL="0">
              <a:buNone/>
            </a:pPr>
            <a:r>
              <a:rPr lang="en-US" sz="1100" i="1" dirty="0">
                <a:solidFill>
                  <a:srgbClr val="5B636E"/>
                </a:solidFill>
                <a:latin typeface="Calibri" pitchFamily="34" charset="0"/>
                <a:ea typeface="Calibri" pitchFamily="34" charset="-122"/>
                <a:cs typeface="Calibri" pitchFamily="34" charset="-120"/>
              </a:rPr>
              <a:t>Precision (in the header) = when the model says "success," how often it's right; 92% here because we're at the realistic 56% base rate (next slide).</a:t>
            </a:r>
            <a:endParaRPr lang="en-US" sz="1100" dirty="0"/>
          </a:p>
        </p:txBody>
      </p:sp>
      <p:sp>
        <p:nvSpPr>
          <p:cNvPr id="14" name="Text 11"/>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Why we adjusted to 56% - it's all about precision</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Remember the 56% honesty cut? Here's why: a '90% accurate' model can still be wrong half the time.</a:t>
            </a:r>
            <a:endParaRPr lang="en-US" sz="1250" dirty="0"/>
          </a:p>
        </p:txBody>
      </p:sp>
      <p:sp>
        <p:nvSpPr>
          <p:cNvPr id="5" name="Text 3"/>
          <p:cNvSpPr/>
          <p:nvPr/>
        </p:nvSpPr>
        <p:spPr>
          <a:xfrm>
            <a:off x="548640" y="1554480"/>
            <a:ext cx="1097280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Imagine 1,000 companies where only 10% succeed. Even a 90%-accurate model:</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6858000" cy="914400"/>
        </p:xfrm>
        <a:graphic>
          <a:graphicData uri="http://schemas.openxmlformats.org/drawingml/2006/table">
            <a:tbl>
              <a:tblPr/>
              <a:tblGrid>
                <a:gridCol w="2468880"/>
                <a:gridCol w="2377440"/>
                <a:gridCol w="2011680"/>
              </a:tblGrid>
              <a:tr h="548640">
                <a:tc>
                  <a:txBody>
                    <a:bodyPr/>
                    <a:lstStyle/>
                    <a:p>
                      <a:pPr algn="ctr" indent="0" marL="0">
                        <a:buNone/>
                      </a:pP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 says SUCCESS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Model says fail</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48640">
                <a:tc>
                  <a:txBody>
                    <a:bodyPr/>
                    <a:lstStyle/>
                    <a:p>
                      <a:pPr algn="l" indent="0" marL="0">
                        <a:buNone/>
                      </a:pPr>
                      <a:r>
                        <a:rPr lang="en-US" sz="1200" b="1" dirty="0">
                          <a:solidFill>
                            <a:srgbClr val="27313F"/>
                          </a:solidFill>
                          <a:latin typeface="Calibri" pitchFamily="34" charset="0"/>
                          <a:ea typeface="Calibri" pitchFamily="34" charset="-122"/>
                          <a:cs typeface="Calibri" pitchFamily="34" charset="-120"/>
                        </a:rPr>
                        <a:t>100 real winners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02C39A"/>
                          </a:solidFill>
                          <a:latin typeface="Calibri" pitchFamily="34" charset="0"/>
                          <a:ea typeface="Calibri" pitchFamily="34" charset="-122"/>
                          <a:cs typeface="Calibri" pitchFamily="34" charset="-120"/>
                        </a:rPr>
                        <a:t>90 caught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10 missed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48640">
                <a:tc>
                  <a:txBody>
                    <a:bodyPr/>
                    <a:lstStyle/>
                    <a:p>
                      <a:pPr algn="l" indent="0" marL="0">
                        <a:buNone/>
                      </a:pPr>
                      <a:r>
                        <a:rPr lang="en-US" sz="1200" b="1" dirty="0">
                          <a:solidFill>
                            <a:srgbClr val="27313F"/>
                          </a:solidFill>
                          <a:latin typeface="Calibri" pitchFamily="34" charset="0"/>
                          <a:ea typeface="Calibri" pitchFamily="34" charset="-122"/>
                          <a:cs typeface="Calibri" pitchFamily="34" charset="-120"/>
                        </a:rPr>
                        <a:t>900 real failures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90 LANDMINES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810 avoided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7" name="Shape 4"/>
          <p:cNvSpPr/>
          <p:nvPr/>
        </p:nvSpPr>
        <p:spPr>
          <a:xfrm>
            <a:off x="7635240" y="2011680"/>
            <a:ext cx="3977640" cy="1645920"/>
          </a:xfrm>
          <a:prstGeom prst="roundRect">
            <a:avLst>
              <a:gd name="adj" fmla="val 5000"/>
            </a:avLst>
          </a:prstGeom>
          <a:solidFill>
            <a:srgbClr val="FBF3F2"/>
          </a:solidFill>
          <a:ln w="15240">
            <a:solidFill>
              <a:srgbClr val="C0392F"/>
            </a:solidFill>
            <a:prstDash val="solid"/>
          </a:ln>
        </p:spPr>
      </p:sp>
      <p:sp>
        <p:nvSpPr>
          <p:cNvPr id="8" name="Text 5"/>
          <p:cNvSpPr/>
          <p:nvPr/>
        </p:nvSpPr>
        <p:spPr>
          <a:xfrm>
            <a:off x="7818120" y="2148840"/>
            <a:ext cx="3657600" cy="365760"/>
          </a:xfrm>
          <a:prstGeom prst="rect">
            <a:avLst/>
          </a:prstGeom>
          <a:noFill/>
          <a:ln/>
        </p:spPr>
        <p:txBody>
          <a:bodyPr wrap="square" lIns="0" tIns="0" rIns="0" bIns="0" rtlCol="0" anchor="ctr"/>
          <a:lstStyle/>
          <a:p>
            <a:pPr indent="0" marL="0">
              <a:buNone/>
            </a:pPr>
            <a:r>
              <a:rPr lang="en-US" sz="1500" b="1" dirty="0">
                <a:solidFill>
                  <a:srgbClr val="C0392F"/>
                </a:solidFill>
                <a:latin typeface="Cambria" pitchFamily="34" charset="0"/>
                <a:ea typeface="Cambria" pitchFamily="34" charset="-122"/>
                <a:cs typeface="Cambria" pitchFamily="34" charset="-120"/>
              </a:rPr>
              <a:t>We'd buy 180, only 90 are real</a:t>
            </a:r>
            <a:endParaRPr lang="en-US" sz="1500" dirty="0"/>
          </a:p>
        </p:txBody>
      </p:sp>
      <p:sp>
        <p:nvSpPr>
          <p:cNvPr id="9" name="Text 6"/>
          <p:cNvSpPr/>
          <p:nvPr/>
        </p:nvSpPr>
        <p:spPr>
          <a:xfrm>
            <a:off x="7818120" y="2542032"/>
            <a:ext cx="3657600" cy="100584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 precision 50%. Half the book is landmines that crash - even though the model is '90% accurate.'</a:t>
            </a:r>
            <a:endParaRPr lang="en-US" sz="1300" dirty="0"/>
          </a:p>
        </p:txBody>
      </p:sp>
      <p:sp>
        <p:nvSpPr>
          <p:cNvPr id="10" name="Text 7"/>
          <p:cNvSpPr/>
          <p:nvPr/>
        </p:nvSpPr>
        <p:spPr>
          <a:xfrm>
            <a:off x="548640" y="4023360"/>
            <a:ext cx="11064240" cy="1188720"/>
          </a:xfrm>
          <a:prstGeom prst="rect">
            <a:avLst/>
          </a:prstGeom>
          <a:noFill/>
          <a:ln/>
        </p:spPr>
        <p:txBody>
          <a:bodyPr wrap="square" rtlCol="0" anchor="t"/>
          <a:lstStyle/>
          <a:p>
            <a:pPr indent="0" marL="0">
              <a:lnSpc>
                <a:spcPct val="120000"/>
              </a:lnSpc>
              <a:buNone/>
            </a:pPr>
            <a:r>
              <a:rPr lang="en-US" sz="1400" b="1" dirty="0">
                <a:solidFill>
                  <a:srgbClr val="1E2761"/>
                </a:solidFill>
                <a:latin typeface="Calibri" pitchFamily="34" charset="0"/>
                <a:ea typeface="Calibri" pitchFamily="34" charset="-122"/>
                <a:cs typeface="Calibri" pitchFamily="34" charset="-120"/>
              </a:rPr>
              <a:t>So why is 56% the whole game? </a:t>
            </a:r>
            <a:pPr indent="0" marL="0">
              <a:lnSpc>
                <a:spcPct val="120000"/>
              </a:lnSpc>
              <a:buNone/>
            </a:pPr>
            <a:r>
              <a:rPr lang="en-US" sz="1400" dirty="0">
                <a:solidFill>
                  <a:srgbClr val="27313F"/>
                </a:solidFill>
                <a:latin typeface="Calibri" pitchFamily="34" charset="0"/>
                <a:ea typeface="Calibri" pitchFamily="34" charset="-122"/>
                <a:cs typeface="Calibri" pitchFamily="34" charset="-120"/>
              </a:rPr>
              <a:t>The rarer the winners, the more failures sneak in as "landmines." At a 10% success rate a 90% model is only 50% precise. At OUR realistic 56%, that same model is 92% precise - it holds up. That's exactly why we insisted on 56% instead of a made-up rosy number.</a:t>
            </a:r>
            <a:endParaRPr lang="en-US" sz="1400" dirty="0"/>
          </a:p>
        </p:txBody>
      </p:sp>
      <p:sp>
        <p:nvSpPr>
          <p:cNvPr id="11" name="Text 8"/>
          <p:cNvSpPr/>
          <p:nvPr/>
        </p:nvSpPr>
        <p:spPr>
          <a:xfrm>
            <a:off x="548640" y="5394960"/>
            <a:ext cx="11064240" cy="457200"/>
          </a:xfrm>
          <a:prstGeom prst="rect">
            <a:avLst/>
          </a:prstGeom>
          <a:noFill/>
          <a:ln/>
        </p:spPr>
        <p:txBody>
          <a:bodyPr wrap="square" rtlCol="0" anchor="ctr"/>
          <a:lstStyle/>
          <a:p>
            <a:pPr indent="0" marL="0">
              <a:buNone/>
            </a:pPr>
            <a:r>
              <a:rPr lang="en-US" sz="1200" i="1" dirty="0">
                <a:solidFill>
                  <a:srgbClr val="5B636E"/>
                </a:solidFill>
                <a:latin typeface="Calibri" pitchFamily="34" charset="0"/>
                <a:ea typeface="Calibri" pitchFamily="34" charset="-122"/>
                <a:cs typeface="Calibri" pitchFamily="34" charset="-120"/>
              </a:rPr>
              <a:t>Precision = when the model says "success," how often it's actually right. A wrong pick gets bought and crashes ~15%.</a:t>
            </a:r>
            <a:endParaRPr lang="en-US" sz="1200" dirty="0"/>
          </a:p>
        </p:txBody>
      </p:sp>
      <p:sp>
        <p:nvSpPr>
          <p:cNvPr id="12" name="Text 9"/>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13</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What could break it</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The honest list - what we assumed, and what we can't yet know.</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840480"/>
                <a:gridCol w="4572000"/>
                <a:gridCol w="265176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Assumption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What we used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Model precision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90% acc -&gt; 92% precision at 56%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the big unknown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Borrow rate / utilization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100%/yr, 40% (assumed)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C0392F"/>
                          </a:solidFill>
                          <a:latin typeface="Calibri" pitchFamily="34" charset="0"/>
                          <a:ea typeface="Calibri" pitchFamily="34" charset="-122"/>
                          <a:cs typeface="Calibri" pitchFamily="34" charset="-120"/>
                        </a:rPr>
                        <a:t>no data - swept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Timing &amp; costs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~1mo before / 3mo after, ~0.85%</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02C39A"/>
                          </a:solidFill>
                          <a:latin typeface="Calibri" pitchFamily="34" charset="0"/>
                          <a:ea typeface="Calibri" pitchFamily="34" charset="-122"/>
                          <a:cs typeface="Calibri" pitchFamily="34" charset="-120"/>
                        </a:rPr>
                        <a:t>grounded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Market regime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all sims use 2016-2019 prices</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E0A458"/>
                          </a:solidFill>
                          <a:latin typeface="Calibri" pitchFamily="34" charset="0"/>
                          <a:ea typeface="Calibri" pitchFamily="34" charset="-122"/>
                          <a:cs typeface="Calibri" pitchFamily="34" charset="-120"/>
                        </a:rPr>
                        <a:t>not stress-tested</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The hedge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on (optional)</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E0A458"/>
                          </a:solidFill>
                          <a:latin typeface="Calibri" pitchFamily="34" charset="0"/>
                          <a:ea typeface="Calibri" pitchFamily="34" charset="-122"/>
                          <a:cs typeface="Calibri" pitchFamily="34" charset="-120"/>
                        </a:rPr>
                        <a:t>cost return here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6" name="Shape 3"/>
          <p:cNvSpPr/>
          <p:nvPr/>
        </p:nvSpPr>
        <p:spPr>
          <a:xfrm>
            <a:off x="548640" y="4892040"/>
            <a:ext cx="11064240" cy="1005840"/>
          </a:xfrm>
          <a:prstGeom prst="roundRect">
            <a:avLst>
              <a:gd name="adj" fmla="val 7273"/>
            </a:avLst>
          </a:prstGeom>
          <a:solidFill>
            <a:srgbClr val="FBF7EE"/>
          </a:solidFill>
          <a:ln w="12700">
            <a:solidFill>
              <a:srgbClr val="E0A458"/>
            </a:solidFill>
            <a:prstDash val="solid"/>
          </a:ln>
        </p:spPr>
      </p:sp>
      <p:sp>
        <p:nvSpPr>
          <p:cNvPr id="7" name="Text 4"/>
          <p:cNvSpPr/>
          <p:nvPr/>
        </p:nvSpPr>
        <p:spPr>
          <a:xfrm>
            <a:off x="777240" y="5010912"/>
            <a:ext cx="10607040" cy="777240"/>
          </a:xfrm>
          <a:prstGeom prst="rect">
            <a:avLst/>
          </a:prstGeom>
          <a:noFill/>
          <a:ln/>
        </p:spPr>
        <p:txBody>
          <a:bodyPr wrap="square" rtlCol="0" anchor="ctr"/>
          <a:lstStyle/>
          <a:p>
            <a:pPr indent="0" marL="0">
              <a:buNone/>
            </a:pPr>
            <a:r>
              <a:rPr lang="en-US" sz="1300" b="1" dirty="0">
                <a:solidFill>
                  <a:srgbClr val="9A6A12"/>
                </a:solidFill>
                <a:latin typeface="Calibri" pitchFamily="34" charset="0"/>
                <a:ea typeface="Calibri" pitchFamily="34" charset="-122"/>
                <a:cs typeface="Calibri" pitchFamily="34" charset="-120"/>
              </a:rPr>
              <a:t>Biggest caveat: </a:t>
            </a:r>
            <a:pPr indent="0" marL="0">
              <a:buNone/>
            </a:pPr>
            <a:r>
              <a:rPr lang="en-US" sz="1300" dirty="0">
                <a:solidFill>
                  <a:srgbClr val="27313F"/>
                </a:solidFill>
                <a:latin typeface="Calibri" pitchFamily="34" charset="0"/>
                <a:ea typeface="Calibri" pitchFamily="34" charset="-122"/>
                <a:cs typeface="Calibri" pitchFamily="34" charset="-120"/>
              </a:rPr>
              <a:t>'never loses' is conditional on a 2016-2019-like market - every simulated path comes from that window. A broad sector crash is a separate risk, which is what the optional hedge is insurance against.</a:t>
            </a:r>
            <a:endParaRPr lang="en-US" sz="1300" dirty="0"/>
          </a:p>
        </p:txBody>
      </p:sp>
      <p:sp>
        <p:nvSpPr>
          <p:cNvPr id="8" name="Text 5"/>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02C39A"/>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How big can it get? ~$100M</a:t>
            </a:r>
            <a:endParaRPr lang="en-US" sz="25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Small-cap liquidity caps it - a boutique sleeve, not a mega-fund.</a:t>
            </a:r>
            <a:endParaRPr lang="en-US" sz="1250" dirty="0"/>
          </a:p>
        </p:txBody>
      </p:sp>
      <p:sp>
        <p:nvSpPr>
          <p:cNvPr id="5" name="Text 3"/>
          <p:cNvSpPr/>
          <p:nvPr/>
        </p:nvSpPr>
        <p:spPr>
          <a:xfrm>
            <a:off x="640080" y="160020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371600" y="1554480"/>
            <a:ext cx="5120640" cy="7772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You can safely trade ~10-20% of a stock's daily volume</a:t>
            </a:r>
            <a:endParaRPr lang="en-US" sz="1400" dirty="0"/>
          </a:p>
        </p:txBody>
      </p:sp>
      <p:sp>
        <p:nvSpPr>
          <p:cNvPr id="7" name="Text 5"/>
          <p:cNvSpPr/>
          <p:nvPr/>
        </p:nvSpPr>
        <p:spPr>
          <a:xfrm>
            <a:off x="6675120" y="1554480"/>
            <a:ext cx="4937760" cy="77724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push past that in a day and your own buying visibly moves the price against you</a:t>
            </a:r>
            <a:endParaRPr lang="en-US" sz="1250" dirty="0"/>
          </a:p>
        </p:txBody>
      </p:sp>
      <p:sp>
        <p:nvSpPr>
          <p:cNvPr id="8" name="Text 6"/>
          <p:cNvSpPr/>
          <p:nvPr/>
        </p:nvSpPr>
        <p:spPr>
          <a:xfrm>
            <a:off x="640080" y="269748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371600" y="2651760"/>
            <a:ext cx="5120640" cy="7772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Over our ~1-month entry window, that's roughly one full day's volume per position</a:t>
            </a:r>
            <a:endParaRPr lang="en-US" sz="1400" dirty="0"/>
          </a:p>
        </p:txBody>
      </p:sp>
      <p:sp>
        <p:nvSpPr>
          <p:cNvPr id="10" name="Text 8"/>
          <p:cNvSpPr/>
          <p:nvPr/>
        </p:nvSpPr>
        <p:spPr>
          <a:xfrm>
            <a:off x="6675120" y="2651760"/>
            <a:ext cx="4937760" cy="77724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the median name we trade only turns over ~$3.3M a day - so a position tops out around $3-5M</a:t>
            </a:r>
            <a:endParaRPr lang="en-US" sz="1250" dirty="0"/>
          </a:p>
        </p:txBody>
      </p:sp>
      <p:sp>
        <p:nvSpPr>
          <p:cNvPr id="11" name="Text 9"/>
          <p:cNvSpPr/>
          <p:nvPr/>
        </p:nvSpPr>
        <p:spPr>
          <a:xfrm>
            <a:off x="640080" y="3794760"/>
            <a:ext cx="548640" cy="548640"/>
          </a:xfrm>
          <a:prstGeom prst="roundRect">
            <a:avLst>
              <a:gd name="adj" fmla="val 50000"/>
            </a:avLst>
          </a:prstGeom>
          <a:solidFill>
            <a:srgbClr val="1E2761"/>
          </a:solid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371600" y="3749040"/>
            <a:ext cx="5120640" cy="777240"/>
          </a:xfrm>
          <a:prstGeom prst="rect">
            <a:avLst/>
          </a:prstGeom>
          <a:noFill/>
          <a:ln/>
        </p:spPr>
        <p:txBody>
          <a:bodyPr wrap="square" lIns="0" tIns="0" rIns="0" bIns="0" rtlCol="0" anchor="ctr"/>
          <a:lstStyle/>
          <a:p>
            <a:pPr indent="0" marL="0">
              <a:buNone/>
            </a:pPr>
            <a:r>
              <a:rPr lang="en-US" sz="1400" b="1" dirty="0">
                <a:solidFill>
                  <a:srgbClr val="1E2761"/>
                </a:solidFill>
                <a:latin typeface="Cambria" pitchFamily="34" charset="0"/>
                <a:ea typeface="Cambria" pitchFamily="34" charset="-122"/>
                <a:cs typeface="Cambria" pitchFamily="34" charset="-120"/>
              </a:rPr>
              <a:t>A $3-5M position is our 5% slice</a:t>
            </a:r>
            <a:endParaRPr lang="en-US" sz="1400" dirty="0"/>
          </a:p>
        </p:txBody>
      </p:sp>
      <p:sp>
        <p:nvSpPr>
          <p:cNvPr id="13" name="Text 11"/>
          <p:cNvSpPr/>
          <p:nvPr/>
        </p:nvSpPr>
        <p:spPr>
          <a:xfrm>
            <a:off x="6675120" y="3749040"/>
            <a:ext cx="4937760" cy="777240"/>
          </a:xfrm>
          <a:prstGeom prst="rect">
            <a:avLst/>
          </a:prstGeom>
          <a:noFill/>
          <a:ln/>
        </p:spPr>
        <p:txBody>
          <a:bodyPr wrap="square" lIns="0" tIns="0" rIns="0" bIns="0" rtlCol="0" anchor="ctr"/>
          <a:lstStyle/>
          <a:p>
            <a:pPr indent="0" marL="0">
              <a:buNone/>
            </a:pPr>
            <a:r>
              <a:rPr lang="en-US" sz="1250" dirty="0">
                <a:solidFill>
                  <a:srgbClr val="27313F"/>
                </a:solidFill>
                <a:latin typeface="Calibri" pitchFamily="34" charset="0"/>
                <a:ea typeface="Calibri" pitchFamily="34" charset="-122"/>
                <a:cs typeface="Calibri" pitchFamily="34" charset="-120"/>
              </a:rPr>
              <a:t>so the fund can be about 20x that - roughly $67M to $134M -&gt; call it ~$100M</a:t>
            </a:r>
            <a:endParaRPr lang="en-US" sz="1250" dirty="0"/>
          </a:p>
        </p:txBody>
      </p:sp>
      <p:sp>
        <p:nvSpPr>
          <p:cNvPr id="14" name="Shape 12"/>
          <p:cNvSpPr/>
          <p:nvPr/>
        </p:nvSpPr>
        <p:spPr>
          <a:xfrm>
            <a:off x="548640" y="4892040"/>
            <a:ext cx="11064240" cy="1005840"/>
          </a:xfrm>
          <a:prstGeom prst="roundRect">
            <a:avLst>
              <a:gd name="adj" fmla="val 7273"/>
            </a:avLst>
          </a:prstGeom>
          <a:solidFill>
            <a:srgbClr val="F4F6FC"/>
          </a:solidFill>
          <a:ln w="12700">
            <a:solidFill>
              <a:srgbClr val="1E2761"/>
            </a:solidFill>
            <a:prstDash val="solid"/>
          </a:ln>
        </p:spPr>
      </p:sp>
      <p:sp>
        <p:nvSpPr>
          <p:cNvPr id="15" name="Text 13"/>
          <p:cNvSpPr/>
          <p:nvPr/>
        </p:nvSpPr>
        <p:spPr>
          <a:xfrm>
            <a:off x="777240" y="5001768"/>
            <a:ext cx="10607040" cy="82296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Deployable ~$50-150M, call it ~$100M. </a:t>
            </a:r>
            <a:pPr indent="0" marL="0">
              <a:buNone/>
            </a:pPr>
            <a:r>
              <a:rPr lang="en-US" sz="1350" dirty="0">
                <a:solidFill>
                  <a:srgbClr val="27313F"/>
                </a:solidFill>
                <a:latin typeface="Calibri" pitchFamily="34" charset="0"/>
                <a:ea typeface="Calibri" pitchFamily="34" charset="-122"/>
                <a:cs typeface="Calibri" pitchFamily="34" charset="-120"/>
              </a:rPr>
              <a:t>Push past that and you either skip the thinnest names or pay far more to trade - the edge erodes. A high-return niche sleeve, not a flagship.</a:t>
            </a:r>
            <a:endParaRPr lang="en-US" sz="1350" dirty="0"/>
          </a:p>
        </p:txBody>
      </p:sp>
      <p:sp>
        <p:nvSpPr>
          <p:cNvPr id="16" name="Text 14"/>
          <p:cNvSpPr/>
          <p:nvPr/>
        </p:nvSpPr>
        <p:spPr>
          <a:xfrm>
            <a:off x="548640" y="6419088"/>
            <a:ext cx="10607040" cy="274320"/>
          </a:xfrm>
          <a:prstGeom prst="rect">
            <a:avLst/>
          </a:prstGeom>
          <a:noFill/>
          <a:ln/>
        </p:spPr>
        <p:txBody>
          <a:bodyPr wrap="square" rtlCol="0" anchor="ctr"/>
          <a:lstStyle/>
          <a:p>
            <a:pPr indent="0" marL="0">
              <a:buNone/>
            </a:pPr>
            <a:r>
              <a:rPr lang="en-US" sz="850" i="1" dirty="0">
                <a:solidFill>
                  <a:srgbClr val="8A919B"/>
                </a:solidFill>
                <a:latin typeface="Calibri" pitchFamily="34" charset="0"/>
                <a:ea typeface="Calibri" pitchFamily="34" charset="-122"/>
                <a:cs typeface="Calibri" pitchFamily="34" charset="-120"/>
              </a:rPr>
              <a:t>Source: Median daily $ volume from 2016-2019 trading data for 88 of the 91 names we traded.</a:t>
            </a:r>
            <a:endParaRPr lang="en-US" sz="850" dirty="0"/>
          </a:p>
        </p:txBody>
      </p:sp>
      <p:sp>
        <p:nvSpPr>
          <p:cNvPr id="17" name="Text 15"/>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B33"/>
        </a:solidFill>
      </p:bgPr>
    </p:bg>
    <p:spTree>
      <p:nvGrpSpPr>
        <p:cNvPr id="1" name=""/>
        <p:cNvGrpSpPr/>
        <p:nvPr/>
      </p:nvGrpSpPr>
      <p:grpSpPr>
        <a:xfrm>
          <a:off x="0" y="0"/>
          <a:ext cx="0" cy="0"/>
          <a:chOff x="0" y="0"/>
          <a:chExt cx="0" cy="0"/>
        </a:xfrm>
      </p:grpSpPr>
      <p:sp>
        <p:nvSpPr>
          <p:cNvPr id="2" name="Text 0"/>
          <p:cNvSpPr/>
          <p:nvPr/>
        </p:nvSpPr>
        <p:spPr>
          <a:xfrm>
            <a:off x="777240" y="640080"/>
            <a:ext cx="106070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Recommendation</a:t>
            </a:r>
            <a:endParaRPr lang="en-US" sz="3400" dirty="0"/>
          </a:p>
        </p:txBody>
      </p:sp>
      <p:sp>
        <p:nvSpPr>
          <p:cNvPr id="3" name="Text 1"/>
          <p:cNvSpPr/>
          <p:nvPr/>
        </p:nvSpPr>
        <p:spPr>
          <a:xfrm>
            <a:off x="795528" y="1417320"/>
            <a:ext cx="10607040"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The economics work. The whole bet now rides on one thing: can we build a precise enough model?</a:t>
            </a:r>
            <a:endParaRPr lang="en-US" sz="1600" dirty="0"/>
          </a:p>
        </p:txBody>
      </p:sp>
      <p:sp>
        <p:nvSpPr>
          <p:cNvPr id="4" name="Shape 2"/>
          <p:cNvSpPr/>
          <p:nvPr/>
        </p:nvSpPr>
        <p:spPr>
          <a:xfrm>
            <a:off x="777240" y="2057400"/>
            <a:ext cx="10607040" cy="1188720"/>
          </a:xfrm>
          <a:prstGeom prst="roundRect">
            <a:avLst>
              <a:gd name="adj" fmla="val 6923"/>
            </a:avLst>
          </a:prstGeom>
          <a:solidFill>
            <a:srgbClr val="232C4D"/>
          </a:solidFill>
          <a:ln w="12700">
            <a:solidFill>
              <a:srgbClr val="34406B"/>
            </a:solidFill>
            <a:prstDash val="solid"/>
          </a:ln>
        </p:spPr>
      </p:sp>
      <p:sp>
        <p:nvSpPr>
          <p:cNvPr id="5" name="Text 3"/>
          <p:cNvSpPr/>
          <p:nvPr/>
        </p:nvSpPr>
        <p:spPr>
          <a:xfrm>
            <a:off x="1005840" y="2194560"/>
            <a:ext cx="2194560" cy="822960"/>
          </a:xfrm>
          <a:prstGeom prst="rect">
            <a:avLst/>
          </a:prstGeom>
          <a:noFill/>
          <a:ln/>
        </p:spPr>
        <p:txBody>
          <a:bodyPr wrap="square" lIns="0" tIns="0" rIns="0" bIns="0" rtlCol="0" anchor="t"/>
          <a:lstStyle/>
          <a:p>
            <a:pPr indent="0" marL="0">
              <a:buNone/>
            </a:pPr>
            <a:r>
              <a:rPr lang="en-US" sz="1500" b="1" dirty="0">
                <a:solidFill>
                  <a:srgbClr val="02C39A"/>
                </a:solidFill>
                <a:latin typeface="Cambria" pitchFamily="34" charset="0"/>
                <a:ea typeface="Cambria" pitchFamily="34" charset="-122"/>
                <a:cs typeface="Cambria" pitchFamily="34" charset="-120"/>
              </a:rPr>
              <a:t>PROVEN</a:t>
            </a:r>
            <a:endParaRPr lang="en-US" sz="1500" dirty="0"/>
          </a:p>
        </p:txBody>
      </p:sp>
      <p:sp>
        <p:nvSpPr>
          <p:cNvPr id="6" name="Text 4"/>
          <p:cNvSpPr/>
          <p:nvPr/>
        </p:nvSpPr>
        <p:spPr>
          <a:xfrm>
            <a:off x="3108960" y="2194560"/>
            <a:ext cx="8138160" cy="914400"/>
          </a:xfrm>
          <a:prstGeom prst="rect">
            <a:avLst/>
          </a:prstGeom>
          <a:noFill/>
          <a:ln/>
        </p:spPr>
        <p:txBody>
          <a:bodyPr wrap="square" lIns="0" tIns="0" rIns="0" bIns="0" rtlCol="0" anchor="ctr"/>
          <a:lstStyle/>
          <a:p>
            <a:pPr indent="0" marL="0">
              <a:lnSpc>
                <a:spcPct val="112000"/>
              </a:lnSpc>
              <a:buNone/>
            </a:pPr>
            <a:r>
              <a:rPr lang="en-US" sz="1250" dirty="0">
                <a:solidFill>
                  <a:srgbClr val="CADCFC"/>
                </a:solidFill>
                <a:latin typeface="Calibri" pitchFamily="34" charset="0"/>
                <a:ea typeface="Calibri" pitchFamily="34" charset="-122"/>
                <a:cs typeface="Calibri" pitchFamily="34" charset="-120"/>
              </a:rPr>
              <a:t>Long+lend beats the market even after the honest 56% haircut ($22M, 22%/yr, never a losing 4-year run in the sims). Lending adds ~19%. There's a positive floor even with zero skill in a normal market.</a:t>
            </a:r>
            <a:endParaRPr lang="en-US" sz="1250" dirty="0"/>
          </a:p>
        </p:txBody>
      </p:sp>
      <p:sp>
        <p:nvSpPr>
          <p:cNvPr id="7" name="Shape 5"/>
          <p:cNvSpPr/>
          <p:nvPr/>
        </p:nvSpPr>
        <p:spPr>
          <a:xfrm>
            <a:off x="777240" y="3383280"/>
            <a:ext cx="10607040" cy="1188720"/>
          </a:xfrm>
          <a:prstGeom prst="roundRect">
            <a:avLst>
              <a:gd name="adj" fmla="val 6923"/>
            </a:avLst>
          </a:prstGeom>
          <a:solidFill>
            <a:srgbClr val="232C4D"/>
          </a:solidFill>
          <a:ln w="12700">
            <a:solidFill>
              <a:srgbClr val="34406B"/>
            </a:solidFill>
            <a:prstDash val="solid"/>
          </a:ln>
        </p:spPr>
      </p:sp>
      <p:sp>
        <p:nvSpPr>
          <p:cNvPr id="8" name="Text 6"/>
          <p:cNvSpPr/>
          <p:nvPr/>
        </p:nvSpPr>
        <p:spPr>
          <a:xfrm>
            <a:off x="1005840" y="3520440"/>
            <a:ext cx="2194560" cy="822960"/>
          </a:xfrm>
          <a:prstGeom prst="rect">
            <a:avLst/>
          </a:prstGeom>
          <a:noFill/>
          <a:ln/>
        </p:spPr>
        <p:txBody>
          <a:bodyPr wrap="square" lIns="0" tIns="0" rIns="0" bIns="0" rtlCol="0" anchor="t"/>
          <a:lstStyle/>
          <a:p>
            <a:pPr indent="0" marL="0">
              <a:buNone/>
            </a:pPr>
            <a:r>
              <a:rPr lang="en-US" sz="1500" b="1" dirty="0">
                <a:solidFill>
                  <a:srgbClr val="E0A458"/>
                </a:solidFill>
                <a:latin typeface="Cambria" pitchFamily="34" charset="0"/>
                <a:ea typeface="Cambria" pitchFamily="34" charset="-122"/>
                <a:cs typeface="Cambria" pitchFamily="34" charset="-120"/>
              </a:rPr>
              <a:t>THE CATCH</a:t>
            </a:r>
            <a:endParaRPr lang="en-US" sz="1500" dirty="0"/>
          </a:p>
        </p:txBody>
      </p:sp>
      <p:sp>
        <p:nvSpPr>
          <p:cNvPr id="9" name="Text 7"/>
          <p:cNvSpPr/>
          <p:nvPr/>
        </p:nvSpPr>
        <p:spPr>
          <a:xfrm>
            <a:off x="3108960" y="3520440"/>
            <a:ext cx="8138160" cy="914400"/>
          </a:xfrm>
          <a:prstGeom prst="rect">
            <a:avLst/>
          </a:prstGeom>
          <a:noFill/>
          <a:ln/>
        </p:spPr>
        <p:txBody>
          <a:bodyPr wrap="square" lIns="0" tIns="0" rIns="0" bIns="0" rtlCol="0" anchor="ctr"/>
          <a:lstStyle/>
          <a:p>
            <a:pPr indent="0" marL="0">
              <a:lnSpc>
                <a:spcPct val="112000"/>
              </a:lnSpc>
              <a:buNone/>
            </a:pPr>
            <a:r>
              <a:rPr lang="en-US" sz="1250" dirty="0">
                <a:solidFill>
                  <a:srgbClr val="CADCFC"/>
                </a:solidFill>
                <a:latin typeface="Calibri" pitchFamily="34" charset="0"/>
                <a:ea typeface="Calibri" pitchFamily="34" charset="-122"/>
                <a:cs typeface="Calibri" pitchFamily="34" charset="-120"/>
              </a:rPr>
              <a:t>It all hinges on model precision - at a realistic base rate a 90% model works, but precision (not raw accuracy) is what keeps landmines out of the book.</a:t>
            </a:r>
            <a:endParaRPr lang="en-US" sz="1250" dirty="0"/>
          </a:p>
        </p:txBody>
      </p:sp>
      <p:sp>
        <p:nvSpPr>
          <p:cNvPr id="10" name="Shape 8"/>
          <p:cNvSpPr/>
          <p:nvPr/>
        </p:nvSpPr>
        <p:spPr>
          <a:xfrm>
            <a:off x="777240" y="4709160"/>
            <a:ext cx="10607040" cy="1188720"/>
          </a:xfrm>
          <a:prstGeom prst="roundRect">
            <a:avLst>
              <a:gd name="adj" fmla="val 6923"/>
            </a:avLst>
          </a:prstGeom>
          <a:solidFill>
            <a:srgbClr val="232C4D"/>
          </a:solidFill>
          <a:ln w="12700">
            <a:solidFill>
              <a:srgbClr val="34406B"/>
            </a:solidFill>
            <a:prstDash val="solid"/>
          </a:ln>
        </p:spPr>
      </p:sp>
      <p:sp>
        <p:nvSpPr>
          <p:cNvPr id="11" name="Text 9"/>
          <p:cNvSpPr/>
          <p:nvPr/>
        </p:nvSpPr>
        <p:spPr>
          <a:xfrm>
            <a:off x="1005840" y="4846320"/>
            <a:ext cx="2194560" cy="82296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NEXT STEPS</a:t>
            </a:r>
            <a:endParaRPr lang="en-US" sz="1500" dirty="0"/>
          </a:p>
        </p:txBody>
      </p:sp>
      <p:sp>
        <p:nvSpPr>
          <p:cNvPr id="12" name="Text 10"/>
          <p:cNvSpPr/>
          <p:nvPr/>
        </p:nvSpPr>
        <p:spPr>
          <a:xfrm>
            <a:off x="3108960" y="4846320"/>
            <a:ext cx="8138160" cy="914400"/>
          </a:xfrm>
          <a:prstGeom prst="rect">
            <a:avLst/>
          </a:prstGeom>
          <a:noFill/>
          <a:ln/>
        </p:spPr>
        <p:txBody>
          <a:bodyPr wrap="square" lIns="0" tIns="0" rIns="0" bIns="0" rtlCol="0" anchor="ctr"/>
          <a:lstStyle/>
          <a:p>
            <a:pPr indent="0" marL="0">
              <a:lnSpc>
                <a:spcPct val="112000"/>
              </a:lnSpc>
              <a:buNone/>
            </a:pPr>
            <a:r>
              <a:rPr lang="en-US" sz="1250" dirty="0">
                <a:solidFill>
                  <a:srgbClr val="CADCFC"/>
                </a:solidFill>
                <a:latin typeface="Calibri" pitchFamily="34" charset="0"/>
                <a:ea typeface="Calibri" pitchFamily="34" charset="-122"/>
                <a:cs typeface="Calibri" pitchFamily="34" charset="-120"/>
              </a:rPr>
              <a:t>1) Build &amp; validate the model ('Alpha Forge') - measure its precision.  2) Add a stop-loss to cut drifters and misclassified landmines.  3) Confirm borrow economics with a prime broker.  Run it as a capacity-limited (~$100M) uncorrelated sleeve.</a:t>
            </a:r>
            <a:endParaRPr lang="en-US" sz="1250" dirty="0"/>
          </a:p>
        </p:txBody>
      </p:sp>
      <p:sp>
        <p:nvSpPr>
          <p:cNvPr id="13" name="Text 11"/>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B33"/>
        </a:solidFill>
      </p:bgPr>
    </p:bg>
    <p:spTree>
      <p:nvGrpSpPr>
        <p:cNvPr id="1" name=""/>
        <p:cNvGrpSpPr/>
        <p:nvPr/>
      </p:nvGrpSpPr>
      <p:grpSpPr>
        <a:xfrm>
          <a:off x="0" y="0"/>
          <a:ext cx="0" cy="0"/>
          <a:chOff x="0" y="0"/>
          <a:chExt cx="0" cy="0"/>
        </a:xfrm>
      </p:grpSpPr>
      <p:sp>
        <p:nvSpPr>
          <p:cNvPr id="2" name="Text 0"/>
          <p:cNvSpPr/>
          <p:nvPr/>
        </p:nvSpPr>
        <p:spPr>
          <a:xfrm>
            <a:off x="777240" y="2651760"/>
            <a:ext cx="106070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Appendix</a:t>
            </a:r>
            <a:endParaRPr lang="en-US" sz="4400" dirty="0"/>
          </a:p>
        </p:txBody>
      </p:sp>
      <p:sp>
        <p:nvSpPr>
          <p:cNvPr id="3" name="Text 1"/>
          <p:cNvSpPr/>
          <p:nvPr/>
        </p:nvSpPr>
        <p:spPr>
          <a:xfrm>
            <a:off x="822960" y="3611880"/>
            <a:ext cx="100584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Supporting detail for Q&amp;A: one-at-a-time sensitivity, hedge methodology, and the 68% -&gt; 56% adjustment visualized.</a:t>
            </a:r>
            <a:endParaRPr lang="en-US" sz="1500" dirty="0"/>
          </a:p>
        </p:txBody>
      </p:sp>
      <p:sp>
        <p:nvSpPr>
          <p:cNvPr id="4" name="Text 2"/>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1E2761"/>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A1</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One-at-a-time sensitivity</a:t>
            </a:r>
            <a:endParaRPr lang="en-US" sz="24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Vary ONE assumption at a time - which single input matters most? (56%, 90% model)</a:t>
            </a:r>
            <a:endParaRPr lang="en-US" sz="1250" dirty="0"/>
          </a:p>
        </p:txBody>
      </p:sp>
      <p:pic>
        <p:nvPicPr>
          <p:cNvPr id="5" name="Image 0" descr="/Users/gigi/hedgefund-analysis/reports/oat_mc_56.png">    </p:cNvPr>
          <p:cNvPicPr>
            <a:picLocks noChangeAspect="1"/>
          </p:cNvPicPr>
          <p:nvPr/>
        </p:nvPicPr>
        <p:blipFill>
          <a:blip r:embed="rId1"/>
          <a:stretch>
            <a:fillRect/>
          </a:stretch>
        </p:blipFill>
        <p:spPr>
          <a:xfrm>
            <a:off x="457200" y="1554480"/>
            <a:ext cx="6858000" cy="246888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543800" y="1600200"/>
          <a:ext cx="4114800" cy="914400"/>
        </p:xfrm>
        <a:graphic>
          <a:graphicData uri="http://schemas.openxmlformats.org/drawingml/2006/table">
            <a:tbl>
              <a:tblPr/>
              <a:tblGrid>
                <a:gridCol w="2560320"/>
                <a:gridCol w="1554480"/>
              </a:tblGrid>
              <a:tr h="50292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Vary this alone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Typical [90% range]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solidFill>
                      <a:srgbClr val="1E2761"/>
                    </a:solidFill>
                  </a:tcPr>
                </a:tc>
              </a:tr>
              <a:tr h="502920">
                <a:tc>
                  <a:txBody>
                    <a:bodyPr/>
                    <a:lstStyle/>
                    <a:p>
                      <a:pPr algn="l" indent="0" marL="0">
                        <a:buNone/>
                      </a:pPr>
                      <a:r>
                        <a:rPr lang="en-US" sz="1200" b="1" dirty="0">
                          <a:solidFill>
                            <a:srgbClr val="1E2761"/>
                          </a:solidFill>
                          <a:latin typeface="Calibri" pitchFamily="34" charset="0"/>
                          <a:ea typeface="Calibri" pitchFamily="34" charset="-122"/>
                          <a:cs typeface="Calibri" pitchFamily="34" charset="-120"/>
                        </a:rPr>
                        <a:t>Borrow rate (cost of lending)</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b="1" dirty="0">
                          <a:solidFill>
                            <a:srgbClr val="27313F"/>
                          </a:solidFill>
                          <a:latin typeface="Calibri" pitchFamily="34" charset="0"/>
                          <a:ea typeface="Calibri" pitchFamily="34" charset="-122"/>
                          <a:cs typeface="Calibri" pitchFamily="34" charset="-120"/>
                        </a:rPr>
                        <a:t>$23.3M  [20.0, 27.7]</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Post-event fade</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$23.2M  [20.1, 26.3]</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Utilization</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$22.8M  [19.3, 26.5]</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r h="502920">
                <a:tc>
                  <a:txBody>
                    <a:bodyPr/>
                    <a:lstStyle/>
                    <a:p>
                      <a:pPr algn="l" indent="0" marL="0">
                        <a:buNone/>
                      </a:pPr>
                      <a:r>
                        <a:rPr lang="en-US" sz="1200" dirty="0">
                          <a:solidFill>
                            <a:srgbClr val="27313F"/>
                          </a:solidFill>
                          <a:latin typeface="Calibri" pitchFamily="34" charset="0"/>
                          <a:ea typeface="Calibri" pitchFamily="34" charset="-122"/>
                          <a:cs typeface="Calibri" pitchFamily="34" charset="-120"/>
                        </a:rPr>
                        <a:t>Trading cost</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c>
                  <a:txBody>
                    <a:bodyPr/>
                    <a:lstStyle/>
                    <a:p>
                      <a:pPr algn="ctr" indent="0" marL="0">
                        <a:buNone/>
                      </a:pPr>
                      <a:r>
                        <a:rPr lang="en-US" sz="1200" dirty="0">
                          <a:solidFill>
                            <a:srgbClr val="27313F"/>
                          </a:solidFill>
                          <a:latin typeface="Calibri" pitchFamily="34" charset="0"/>
                          <a:ea typeface="Calibri" pitchFamily="34" charset="-122"/>
                          <a:cs typeface="Calibri" pitchFamily="34" charset="-120"/>
                        </a:rPr>
                        <a:t>$22.5M  [19.4, 25.6]</a:t>
                      </a:r>
                      <a:endParaRPr lang="en-US" sz="1200" dirty="0">
                        <a:latin typeface="Calibri" charset="0"/>
                        <a:ea typeface="Calibri" charset="0"/>
                        <a:cs typeface="Calibri" charset="0"/>
                      </a:endParaRPr>
                    </a:p>
                  </a:txBody>
                  <a:tcPr marL="91440" marR="91440" marT="45720" marB="45720" anchor="ctr">
                    <a:lnL w="12700" cap="flat" cmpd="sng" algn="ctr">
                      <a:solidFill>
                        <a:srgbClr val="E4E6EE"/>
                      </a:solidFill>
                      <a:prstDash val="solid"/>
                      <a:round/>
                      <a:headEnd type="none" w="med" len="med"/>
                      <a:tailEnd type="none" w="med" len="med"/>
                    </a:lnL>
                    <a:lnR w="12700" cap="flat" cmpd="sng" algn="ctr">
                      <a:solidFill>
                        <a:srgbClr val="E4E6EE"/>
                      </a:solidFill>
                      <a:prstDash val="solid"/>
                      <a:round/>
                      <a:headEnd type="none" w="med" len="med"/>
                      <a:tailEnd type="none" w="med" len="med"/>
                    </a:lnR>
                    <a:lnT w="12700" cap="flat" cmpd="sng" algn="ctr">
                      <a:solidFill>
                        <a:srgbClr val="E4E6EE"/>
                      </a:solidFill>
                      <a:prstDash val="solid"/>
                      <a:round/>
                      <a:headEnd type="none" w="med" len="med"/>
                      <a:tailEnd type="none" w="med" len="med"/>
                    </a:lnT>
                    <a:lnB w="12700" cap="flat" cmpd="sng" algn="ctr">
                      <a:solidFill>
                        <a:srgbClr val="E4E6EE"/>
                      </a:solidFill>
                      <a:prstDash val="solid"/>
                      <a:round/>
                      <a:headEnd type="none" w="med" len="med"/>
                      <a:tailEnd type="none" w="med" len="med"/>
                    </a:lnB>
                  </a:tcPr>
                </a:tc>
              </a:tr>
            </a:tbl>
          </a:graphicData>
        </a:graphic>
      </p:graphicFrame>
      <p:sp>
        <p:nvSpPr>
          <p:cNvPr id="7" name="Text 3"/>
          <p:cNvSpPr/>
          <p:nvPr/>
        </p:nvSpPr>
        <p:spPr>
          <a:xfrm>
            <a:off x="457200" y="4251960"/>
            <a:ext cx="11155680" cy="914400"/>
          </a:xfrm>
          <a:prstGeom prst="rect">
            <a:avLst/>
          </a:prstGeom>
          <a:noFill/>
          <a:ln/>
        </p:spPr>
        <p:txBody>
          <a:bodyPr wrap="square" rtlCol="0" anchor="t"/>
          <a:lstStyle/>
          <a:p>
            <a:pPr indent="0" marL="0">
              <a:lnSpc>
                <a:spcPct val="118000"/>
              </a:lnSpc>
              <a:buNone/>
            </a:pPr>
            <a:r>
              <a:rPr lang="en-US" sz="1300" b="1" dirty="0">
                <a:solidFill>
                  <a:srgbClr val="1E2761"/>
                </a:solidFill>
                <a:latin typeface="Calibri" pitchFamily="34" charset="0"/>
                <a:ea typeface="Calibri" pitchFamily="34" charset="-122"/>
                <a:cs typeface="Calibri" pitchFamily="34" charset="-120"/>
              </a:rPr>
              <a:t>Borrow rate - the cost of lending - is the single most important input </a:t>
            </a:r>
            <a:pPr indent="0" marL="0">
              <a:lnSpc>
                <a:spcPct val="118000"/>
              </a:lnSpc>
              <a:buNone/>
            </a:pPr>
            <a:r>
              <a:rPr lang="en-US" sz="1300" dirty="0">
                <a:solidFill>
                  <a:srgbClr val="27313F"/>
                </a:solidFill>
                <a:latin typeface="Calibri" pitchFamily="34" charset="0"/>
                <a:ea typeface="Calibri" pitchFamily="34" charset="-122"/>
                <a:cs typeface="Calibri" pitchFamily="34" charset="-120"/>
              </a:rPr>
              <a:t>(widest bar). It's exactly the assumption to nail down with a prime broker. Even so, the worst single-variable case still ends around $20M.</a:t>
            </a:r>
            <a:endParaRPr lang="en-US" sz="1300" dirty="0"/>
          </a:p>
        </p:txBody>
      </p:sp>
      <p:sp>
        <p:nvSpPr>
          <p:cNvPr id="8" name="Text 4"/>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1E2761"/>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A2</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Hedge methodology (how, and against what)</a:t>
            </a:r>
            <a:endParaRPr lang="en-US" sz="24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We short the biotech ETF, sized by each stock's beta.</a:t>
            </a:r>
            <a:endParaRPr lang="en-US" sz="1250" dirty="0"/>
          </a:p>
        </p:txBody>
      </p:sp>
      <p:sp>
        <p:nvSpPr>
          <p:cNvPr id="5" name="Text 3"/>
          <p:cNvSpPr/>
          <p:nvPr/>
        </p:nvSpPr>
        <p:spPr>
          <a:xfrm>
            <a:off x="548640" y="1554480"/>
            <a:ext cx="3474720" cy="82296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What we short</a:t>
            </a:r>
            <a:endParaRPr lang="en-US" sz="1400" dirty="0"/>
          </a:p>
        </p:txBody>
      </p:sp>
      <p:sp>
        <p:nvSpPr>
          <p:cNvPr id="6" name="Text 4"/>
          <p:cNvSpPr/>
          <p:nvPr/>
        </p:nvSpPr>
        <p:spPr>
          <a:xfrm>
            <a:off x="4206240" y="1554480"/>
            <a:ext cx="7406640" cy="86868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the XBI biotech ETF - a basket of biotech stocks - so we're not betting on the whole sector's direction</a:t>
            </a:r>
            <a:endParaRPr lang="en-US" sz="1300" dirty="0"/>
          </a:p>
        </p:txBody>
      </p:sp>
      <p:sp>
        <p:nvSpPr>
          <p:cNvPr id="7" name="Text 5"/>
          <p:cNvSpPr/>
          <p:nvPr/>
        </p:nvSpPr>
        <p:spPr>
          <a:xfrm>
            <a:off x="548640" y="2651760"/>
            <a:ext cx="3474720" cy="82296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How much (beta-sized)</a:t>
            </a:r>
            <a:endParaRPr lang="en-US" sz="1400" dirty="0"/>
          </a:p>
        </p:txBody>
      </p:sp>
      <p:sp>
        <p:nvSpPr>
          <p:cNvPr id="8" name="Text 6"/>
          <p:cNvSpPr/>
          <p:nvPr/>
        </p:nvSpPr>
        <p:spPr>
          <a:xfrm>
            <a:off x="4206240" y="2651760"/>
            <a:ext cx="7406640" cy="86868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for each stock, we estimate its 'beta' to XBI (a regression on pre-event returns) and short beta x the position - a jumpier stock gets a bigger hedge</a:t>
            </a:r>
            <a:endParaRPr lang="en-US" sz="1300" dirty="0"/>
          </a:p>
        </p:txBody>
      </p:sp>
      <p:sp>
        <p:nvSpPr>
          <p:cNvPr id="9" name="Text 7"/>
          <p:cNvSpPr/>
          <p:nvPr/>
        </p:nvSpPr>
        <p:spPr>
          <a:xfrm>
            <a:off x="548640" y="3749040"/>
            <a:ext cx="3474720" cy="82296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Against what</a:t>
            </a:r>
            <a:endParaRPr lang="en-US" sz="1400" dirty="0"/>
          </a:p>
        </p:txBody>
      </p:sp>
      <p:sp>
        <p:nvSpPr>
          <p:cNvPr id="10" name="Text 8"/>
          <p:cNvSpPr/>
          <p:nvPr/>
        </p:nvSpPr>
        <p:spPr>
          <a:xfrm>
            <a:off x="4206240" y="3749040"/>
            <a:ext cx="7406640" cy="86868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a broad biotech selloff. If the whole sector drops, the short gains and offsets our longs</a:t>
            </a:r>
            <a:endParaRPr lang="en-US" sz="1300" dirty="0"/>
          </a:p>
        </p:txBody>
      </p:sp>
      <p:sp>
        <p:nvSpPr>
          <p:cNvPr id="11" name="Text 9"/>
          <p:cNvSpPr/>
          <p:nvPr/>
        </p:nvSpPr>
        <p:spPr>
          <a:xfrm>
            <a:off x="548640" y="4846320"/>
            <a:ext cx="3474720" cy="822960"/>
          </a:xfrm>
          <a:prstGeom prst="rect">
            <a:avLst/>
          </a:prstGeom>
          <a:noFill/>
          <a:ln/>
        </p:spPr>
        <p:txBody>
          <a:bodyPr wrap="square" lIns="0" tIns="0" rIns="0" bIns="0" rtlCol="0" anchor="t"/>
          <a:lstStyle/>
          <a:p>
            <a:pPr indent="0" marL="0">
              <a:buNone/>
            </a:pPr>
            <a:r>
              <a:rPr lang="en-US" sz="1400" b="1" dirty="0">
                <a:solidFill>
                  <a:srgbClr val="1E2761"/>
                </a:solidFill>
                <a:latin typeface="Cambria" pitchFamily="34" charset="0"/>
                <a:ea typeface="Cambria" pitchFamily="34" charset="-122"/>
                <a:cs typeface="Cambria" pitchFamily="34" charset="-120"/>
              </a:rPr>
              <a:t>The honest cost</a:t>
            </a:r>
            <a:endParaRPr lang="en-US" sz="1400" dirty="0"/>
          </a:p>
        </p:txBody>
      </p:sp>
      <p:sp>
        <p:nvSpPr>
          <p:cNvPr id="12" name="Text 10"/>
          <p:cNvSpPr/>
          <p:nvPr/>
        </p:nvSpPr>
        <p:spPr>
          <a:xfrm>
            <a:off x="4206240" y="4846320"/>
            <a:ext cx="7406640" cy="868680"/>
          </a:xfrm>
          <a:prstGeom prst="rect">
            <a:avLst/>
          </a:prstGeom>
          <a:noFill/>
          <a:ln/>
        </p:spPr>
        <p:txBody>
          <a:bodyPr wrap="square" lIns="0" tIns="0" rIns="0" bIns="0" rtlCol="0" anchor="t"/>
          <a:lstStyle/>
          <a:p>
            <a:pPr indent="0" marL="0">
              <a:buNone/>
            </a:pPr>
            <a:r>
              <a:rPr lang="en-US" sz="1300" dirty="0">
                <a:solidFill>
                  <a:srgbClr val="27313F"/>
                </a:solidFill>
                <a:latin typeface="Calibri" pitchFamily="34" charset="0"/>
                <a:ea typeface="Calibri" pitchFamily="34" charset="-122"/>
                <a:cs typeface="Calibri" pitchFamily="34" charset="-120"/>
              </a:rPr>
              <a:t>in 2016-2019 biotech mostly rose, so the hedge cost return. It helped in the Q4-2018 selloff (-5% vs -14%) but hurt in the 2017 rally</a:t>
            </a:r>
            <a:endParaRPr lang="en-US" sz="1300" dirty="0"/>
          </a:p>
        </p:txBody>
      </p:sp>
      <p:sp>
        <p:nvSpPr>
          <p:cNvPr id="13" name="Text 11"/>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58368" cy="566928"/>
          </a:xfrm>
          <a:prstGeom prst="roundRect">
            <a:avLst>
              <a:gd name="adj" fmla="val 12903"/>
            </a:avLst>
          </a:prstGeom>
          <a:solidFill>
            <a:srgbClr val="1E2761"/>
          </a:solid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A3</a:t>
            </a:r>
            <a:endParaRPr lang="en-US" sz="2000" dirty="0"/>
          </a:p>
        </p:txBody>
      </p:sp>
      <p:sp>
        <p:nvSpPr>
          <p:cNvPr id="3" name="Text 1"/>
          <p:cNvSpPr/>
          <p:nvPr/>
        </p:nvSpPr>
        <p:spPr>
          <a:xfrm>
            <a:off x="1371600" y="420624"/>
            <a:ext cx="10332720" cy="45720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The 68% -&gt; 56% adjustment, visualized</a:t>
            </a:r>
            <a:endParaRPr lang="en-US" sz="2400" dirty="0"/>
          </a:p>
        </p:txBody>
      </p:sp>
      <p:sp>
        <p:nvSpPr>
          <p:cNvPr id="4" name="Text 2"/>
          <p:cNvSpPr/>
          <p:nvPr/>
        </p:nvSpPr>
        <p:spPr>
          <a:xfrm>
            <a:off x="1389888" y="896112"/>
            <a:ext cx="10241280" cy="292608"/>
          </a:xfrm>
          <a:prstGeom prst="rect">
            <a:avLst/>
          </a:prstGeom>
          <a:noFill/>
          <a:ln/>
        </p:spPr>
        <p:txBody>
          <a:bodyPr wrap="square" lIns="0" tIns="0" rIns="0" bIns="0" rtlCol="0" anchor="ctr"/>
          <a:lstStyle/>
          <a:p>
            <a:pPr indent="0" marL="0">
              <a:buNone/>
            </a:pPr>
            <a:r>
              <a:rPr lang="en-US" sz="1250" i="1" dirty="0">
                <a:solidFill>
                  <a:srgbClr val="5B636E"/>
                </a:solidFill>
                <a:latin typeface="Calibri" pitchFamily="34" charset="0"/>
                <a:ea typeface="Calibri" pitchFamily="34" charset="-122"/>
                <a:cs typeface="Calibri" pitchFamily="34" charset="-120"/>
              </a:rPr>
              <a:t>Adjusting to the realistic success rate lowers the growth rate - a widening fan, not a flat drop.</a:t>
            </a:r>
            <a:endParaRPr lang="en-US" sz="1250" dirty="0"/>
          </a:p>
        </p:txBody>
      </p:sp>
      <p:pic>
        <p:nvPicPr>
          <p:cNvPr id="5" name="Image 0" descr="/Users/gigi/hedgefund-analysis/reports/equity_56_vs_68.png">    </p:cNvPr>
          <p:cNvPicPr>
            <a:picLocks noChangeAspect="1"/>
          </p:cNvPicPr>
          <p:nvPr/>
        </p:nvPicPr>
        <p:blipFill>
          <a:blip r:embed="rId1"/>
          <a:stretch>
            <a:fillRect/>
          </a:stretch>
        </p:blipFill>
        <p:spPr>
          <a:xfrm>
            <a:off x="1280160" y="1600200"/>
            <a:ext cx="9601200" cy="4297680"/>
          </a:xfrm>
          <a:prstGeom prst="rect">
            <a:avLst/>
          </a:prstGeom>
        </p:spPr>
      </p:pic>
      <p:sp>
        <p:nvSpPr>
          <p:cNvPr id="6" name="Text 3"/>
          <p:cNvSpPr/>
          <p:nvPr/>
        </p:nvSpPr>
        <p:spPr>
          <a:xfrm>
            <a:off x="11430000" y="6446520"/>
            <a:ext cx="640080" cy="274320"/>
          </a:xfrm>
          <a:prstGeom prst="rect">
            <a:avLst/>
          </a:prstGeom>
          <a:noFill/>
          <a:ln/>
        </p:spPr>
        <p:txBody>
          <a:bodyPr wrap="square" rtlCol="0" anchor="ctr"/>
          <a:lstStyle/>
          <a:p>
            <a:pPr algn="r" indent="0" marL="0">
              <a:buNone/>
            </a:pPr>
            <a:r>
              <a:rPr lang="en-US" sz="900" dirty="0">
                <a:solidFill>
                  <a:srgbClr val="8A919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2026-08-06T15:08:20Z</dcterms:created>
  <dcterms:modified xsi:type="dcterms:W3CDTF">2026-08-06T15:08:20Z</dcterms:modified>
</cp:coreProperties>
</file>